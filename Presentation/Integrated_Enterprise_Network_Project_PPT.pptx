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2B7BA-9365-45E6-923A-952E294A2F8D}" v="3" dt="2026-10-04T02:56:37.9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98" autoAdjust="0"/>
  </p:normalViewPr>
  <p:slideViewPr>
    <p:cSldViewPr snapToGrid="0" snapToObjects="1">
      <p:cViewPr varScale="1">
        <p:scale>
          <a:sx n="59" d="100"/>
          <a:sy n="59" d="100"/>
        </p:scale>
        <p:origin x="132" y="48"/>
      </p:cViewPr>
      <p:guideLst/>
    </p:cSldViewPr>
  </p:slideViewPr>
  <p:notesTextViewPr>
    <p:cViewPr>
      <p:scale>
        <a:sx n="1" d="1"/>
        <a:sy n="1" d="1"/>
      </p:scale>
      <p:origin x="0" y="0"/>
    </p:cViewPr>
  </p:notesTextViewPr>
  <p:sorterViewPr>
    <p:cViewPr>
      <p:scale>
        <a:sx n="100" d="100"/>
        <a:sy n="100" d="100"/>
      </p:scale>
      <p:origin x="0" y="-84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41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name, course at IT-Vedant, and that this project is where you applied networking and security. Keep it to about twenty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organization with several sites needs this: banks with branches, hospitals, colleges, retail chains. My project shows the same building blocks. Remember it is a simulation.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issues in this project: the file had no configuration, the counts did not match, and every table had to stay consistent with one addressing plan.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issue I analysed first, then fixed it in the design. The key fixes were the single addressing plan, separate BGP AS numbers for each Head Office router, and recording every mismatch instead of hiding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a:t>
            </a:r>
            <a:endParaRPr lang="en-US" sz="1000" dirty="0"/>
          </a:p>
        </p:txBody>
      </p:sp>
      <p:sp>
        <p:nvSpPr>
          <p:cNvPr id="3" name="Text 1"/>
          <p:cNvSpPr txBox="1"/>
          <p:nvPr/>
        </p:nvSpPr>
        <p:spPr>
          <a:xfrm>
            <a:off x="731520" y="1188720"/>
            <a:ext cx="10515600" cy="13716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Integrated Enterprise Network Using Cisco Packet Tracer</a:t>
            </a:r>
            <a:endParaRPr lang="en-US" sz="4200" dirty="0"/>
          </a:p>
        </p:txBody>
      </p:sp>
      <p:sp>
        <p:nvSpPr>
          <p:cNvPr id="4" name="Text 2"/>
          <p:cNvSpPr txBox="1"/>
          <p:nvPr/>
        </p:nvSpPr>
        <p:spPr>
          <a:xfrm>
            <a:off x="731520" y="2743200"/>
            <a:ext cx="10515600" cy="548640"/>
          </a:xfrm>
          <a:prstGeom prst="rect">
            <a:avLst/>
          </a:prstGeom>
          <a:noFill/>
          <a:ln/>
        </p:spPr>
        <p:txBody>
          <a:bodyPr wrap="square" lIns="0" tIns="0" rIns="0" bIns="0" rtlCol="0" anchor="ctr"/>
          <a:lstStyle/>
          <a:p>
            <a:pPr marL="0" indent="0">
              <a:buNone/>
            </a:pPr>
            <a:r>
              <a:rPr lang="en-US" sz="2200" dirty="0">
                <a:solidFill>
                  <a:srgbClr val="A8F0C4"/>
                </a:solidFill>
                <a:latin typeface="Calibri" pitchFamily="34" charset="0"/>
                <a:ea typeface="Calibri" pitchFamily="34" charset="-122"/>
                <a:cs typeface="Calibri" pitchFamily="34" charset="-120"/>
              </a:rPr>
              <a:t>CCNA Networking and Cybersecurity Project</a:t>
            </a:r>
            <a:endParaRPr lang="en-US" sz="2200" dirty="0"/>
          </a:p>
        </p:txBody>
      </p:sp>
      <p:sp>
        <p:nvSpPr>
          <p:cNvPr id="5" name="Text 3"/>
          <p:cNvSpPr txBox="1"/>
          <p:nvPr/>
        </p:nvSpPr>
        <p:spPr>
          <a:xfrm>
            <a:off x="731520" y="3931920"/>
            <a:ext cx="10058400" cy="173736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Mohammad Umar Naeemullah Shaikh</a:t>
            </a: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Cyber Security &amp; Ethical Hacking with AI</a:t>
            </a: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IT-Vedant (Dadar)  |  Academic Year 2026</a:t>
            </a: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Guide: Kadir Ail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Self Introduction</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a:t>
            </a:r>
            <a:endParaRPr lang="en-US" sz="1000" dirty="0"/>
          </a:p>
        </p:txBody>
      </p:sp>
      <p:sp>
        <p:nvSpPr>
          <p:cNvPr id="4" name="Shape 2"/>
          <p:cNvSpPr/>
          <p:nvPr/>
        </p:nvSpPr>
        <p:spPr>
          <a:xfrm>
            <a:off x="548640" y="1371600"/>
            <a:ext cx="5120640" cy="2194560"/>
          </a:xfrm>
          <a:prstGeom prst="roundRect">
            <a:avLst>
              <a:gd name="adj" fmla="val 4167"/>
            </a:avLst>
          </a:prstGeom>
          <a:solidFill>
            <a:srgbClr val="E6F4EA"/>
          </a:solidFill>
          <a:ln w="12700">
            <a:solidFill>
              <a:srgbClr val="E6F4EA"/>
            </a:solidFill>
            <a:prstDash val="solid"/>
          </a:ln>
        </p:spPr>
        <p:txBody>
          <a:bodyPr/>
          <a:lstStyle/>
          <a:p>
            <a:endParaRPr lang="en-IN"/>
          </a:p>
        </p:txBody>
      </p:sp>
      <p:sp>
        <p:nvSpPr>
          <p:cNvPr id="5" name="Text 3"/>
          <p:cNvSpPr txBox="1"/>
          <p:nvPr/>
        </p:nvSpPr>
        <p:spPr>
          <a:xfrm>
            <a:off x="731520" y="1481328"/>
            <a:ext cx="4754880" cy="41148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Mohammad Umar Naeemullah Shaikh</a:t>
            </a:r>
            <a:endParaRPr lang="en-US" sz="1700" dirty="0"/>
          </a:p>
        </p:txBody>
      </p:sp>
      <p:sp>
        <p:nvSpPr>
          <p:cNvPr id="6" name="Text 4"/>
          <p:cNvSpPr txBox="1"/>
          <p:nvPr/>
        </p:nvSpPr>
        <p:spPr>
          <a:xfrm>
            <a:off x="731520" y="1920240"/>
            <a:ext cx="4754880" cy="1554480"/>
          </a:xfrm>
          <a:prstGeom prst="rect">
            <a:avLst/>
          </a:prstGeom>
          <a:noFill/>
          <a:ln/>
        </p:spPr>
        <p:txBody>
          <a:bodyPr wrap="square" lIns="0" tIns="0" rIns="0" bIns="0" rtlCol="0" anchor="t"/>
          <a:lstStyle/>
          <a:p>
            <a:pPr marL="0" indent="0">
              <a:buNone/>
            </a:pPr>
            <a:r>
              <a:rPr lang="en-US" sz="1400" dirty="0">
                <a:solidFill>
                  <a:srgbClr val="1F3329"/>
                </a:solidFill>
                <a:latin typeface="Calibri" pitchFamily="34" charset="0"/>
                <a:ea typeface="Calibri" pitchFamily="34" charset="-122"/>
                <a:cs typeface="Calibri" pitchFamily="34" charset="-120"/>
              </a:rPr>
              <a:t>Course: Cyber Security &amp; Ethical Hacking with AI</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Institute: IT-Vedant (Dadar)</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Guide: Kadir Ail</a:t>
            </a:r>
            <a:endParaRPr lang="en-US" sz="1400" dirty="0"/>
          </a:p>
        </p:txBody>
      </p:sp>
      <p:sp>
        <p:nvSpPr>
          <p:cNvPr id="7" name="Text 5"/>
          <p:cNvSpPr txBox="1"/>
          <p:nvPr/>
        </p:nvSpPr>
        <p:spPr>
          <a:xfrm>
            <a:off x="548640" y="3840480"/>
            <a:ext cx="5120640" cy="2377440"/>
          </a:xfrm>
          <a:prstGeom prst="rect">
            <a:avLst/>
          </a:prstGeom>
          <a:noFill/>
          <a:ln/>
        </p:spPr>
        <p:txBody>
          <a:bodyPr wrap="square" lIns="0" tIns="0" rIns="0" bIns="0" rtlCol="0" anchor="t"/>
          <a:lstStyle/>
          <a:p>
            <a:pPr marL="0" indent="0">
              <a:buNone/>
            </a:pPr>
            <a:r>
              <a:rPr lang="en-US" sz="1500" i="1" dirty="0">
                <a:solidFill>
                  <a:srgbClr val="4F6B5C"/>
                </a:solidFill>
                <a:latin typeface="Calibri" pitchFamily="34" charset="0"/>
                <a:ea typeface="Calibri" pitchFamily="34" charset="-122"/>
                <a:cs typeface="Calibri" pitchFamily="34" charset="-120"/>
              </a:rPr>
              <a:t>"Hello everyone, my name is Mohammad Umar Naeemullah Shaikh. I am studying Cyber Security &amp; Ethical Hacking with AI at IT-Vedant, Dadar. In this project I built and documented an enterprise network in Cisco Packet Tracer to understand routing, network services and security."</a:t>
            </a:r>
            <a:endParaRPr lang="en-US" sz="1500" dirty="0"/>
          </a:p>
        </p:txBody>
      </p:sp>
      <p:sp>
        <p:nvSpPr>
          <p:cNvPr id="8" name="Shape 6"/>
          <p:cNvSpPr/>
          <p:nvPr/>
        </p:nvSpPr>
        <p:spPr>
          <a:xfrm>
            <a:off x="6035040" y="1371600"/>
            <a:ext cx="2697480" cy="640080"/>
          </a:xfrm>
          <a:prstGeom prst="roundRect">
            <a:avLst>
              <a:gd name="adj" fmla="val 11429"/>
            </a:avLst>
          </a:prstGeom>
          <a:solidFill>
            <a:srgbClr val="0B3D2E"/>
          </a:solidFill>
          <a:ln w="12700">
            <a:solidFill>
              <a:srgbClr val="0B3D2E"/>
            </a:solidFill>
            <a:prstDash val="solid"/>
          </a:ln>
        </p:spPr>
        <p:txBody>
          <a:bodyPr/>
          <a:lstStyle/>
          <a:p>
            <a:endParaRPr lang="en-IN"/>
          </a:p>
        </p:txBody>
      </p:sp>
      <p:sp>
        <p:nvSpPr>
          <p:cNvPr id="9" name="Text 7"/>
          <p:cNvSpPr txBox="1"/>
          <p:nvPr/>
        </p:nvSpPr>
        <p:spPr>
          <a:xfrm>
            <a:off x="6035040" y="137160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Cisco Networking</a:t>
            </a:r>
            <a:endParaRPr lang="en-US" sz="1500" dirty="0"/>
          </a:p>
        </p:txBody>
      </p:sp>
      <p:sp>
        <p:nvSpPr>
          <p:cNvPr id="10" name="Shape 8"/>
          <p:cNvSpPr/>
          <p:nvPr/>
        </p:nvSpPr>
        <p:spPr>
          <a:xfrm>
            <a:off x="8915400" y="1371600"/>
            <a:ext cx="2697480" cy="640080"/>
          </a:xfrm>
          <a:prstGeom prst="roundRect">
            <a:avLst>
              <a:gd name="adj" fmla="val 11429"/>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8915400" y="137160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Network Security</a:t>
            </a:r>
            <a:endParaRPr lang="en-US" sz="1500" dirty="0"/>
          </a:p>
        </p:txBody>
      </p:sp>
      <p:sp>
        <p:nvSpPr>
          <p:cNvPr id="12" name="Shape 10"/>
          <p:cNvSpPr/>
          <p:nvPr/>
        </p:nvSpPr>
        <p:spPr>
          <a:xfrm>
            <a:off x="6035040" y="2194560"/>
            <a:ext cx="2697480" cy="640080"/>
          </a:xfrm>
          <a:prstGeom prst="roundRect">
            <a:avLst>
              <a:gd name="adj" fmla="val 11429"/>
            </a:avLst>
          </a:prstGeom>
          <a:solidFill>
            <a:srgbClr val="0B3D2E"/>
          </a:solidFill>
          <a:ln w="12700">
            <a:solidFill>
              <a:srgbClr val="0B3D2E"/>
            </a:solidFill>
            <a:prstDash val="solid"/>
          </a:ln>
        </p:spPr>
        <p:txBody>
          <a:bodyPr/>
          <a:lstStyle/>
          <a:p>
            <a:endParaRPr lang="en-IN"/>
          </a:p>
        </p:txBody>
      </p:sp>
      <p:sp>
        <p:nvSpPr>
          <p:cNvPr id="13" name="Text 11"/>
          <p:cNvSpPr txBox="1"/>
          <p:nvPr/>
        </p:nvSpPr>
        <p:spPr>
          <a:xfrm>
            <a:off x="6035040" y="219456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Cybersecurity</a:t>
            </a:r>
            <a:endParaRPr lang="en-US" sz="1500" dirty="0"/>
          </a:p>
        </p:txBody>
      </p:sp>
      <p:sp>
        <p:nvSpPr>
          <p:cNvPr id="14" name="Shape 12"/>
          <p:cNvSpPr/>
          <p:nvPr/>
        </p:nvSpPr>
        <p:spPr>
          <a:xfrm>
            <a:off x="8915400" y="2194560"/>
            <a:ext cx="2697480" cy="640080"/>
          </a:xfrm>
          <a:prstGeom prst="roundRect">
            <a:avLst>
              <a:gd name="adj" fmla="val 11429"/>
            </a:avLst>
          </a:prstGeom>
          <a:solidFill>
            <a:srgbClr val="1B7F4B"/>
          </a:solidFill>
          <a:ln w="12700">
            <a:solidFill>
              <a:srgbClr val="1B7F4B"/>
            </a:solidFill>
            <a:prstDash val="solid"/>
          </a:ln>
        </p:spPr>
        <p:txBody>
          <a:bodyPr/>
          <a:lstStyle/>
          <a:p>
            <a:endParaRPr lang="en-IN"/>
          </a:p>
        </p:txBody>
      </p:sp>
      <p:sp>
        <p:nvSpPr>
          <p:cNvPr id="15" name="Text 13"/>
          <p:cNvSpPr txBox="1"/>
          <p:nvPr/>
        </p:nvSpPr>
        <p:spPr>
          <a:xfrm>
            <a:off x="8915400" y="219456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Ethical Hacking</a:t>
            </a:r>
            <a:endParaRPr lang="en-US" sz="1500" dirty="0"/>
          </a:p>
        </p:txBody>
      </p:sp>
      <p:sp>
        <p:nvSpPr>
          <p:cNvPr id="16" name="Shape 14"/>
          <p:cNvSpPr/>
          <p:nvPr/>
        </p:nvSpPr>
        <p:spPr>
          <a:xfrm>
            <a:off x="6035040" y="3017520"/>
            <a:ext cx="2697480" cy="640080"/>
          </a:xfrm>
          <a:prstGeom prst="roundRect">
            <a:avLst>
              <a:gd name="adj" fmla="val 11429"/>
            </a:avLst>
          </a:prstGeom>
          <a:solidFill>
            <a:srgbClr val="0B3D2E"/>
          </a:solidFill>
          <a:ln w="12700">
            <a:solidFill>
              <a:srgbClr val="0B3D2E"/>
            </a:solidFill>
            <a:prstDash val="solid"/>
          </a:ln>
        </p:spPr>
        <p:txBody>
          <a:bodyPr/>
          <a:lstStyle/>
          <a:p>
            <a:endParaRPr lang="en-IN"/>
          </a:p>
        </p:txBody>
      </p:sp>
      <p:sp>
        <p:nvSpPr>
          <p:cNvPr id="17" name="Text 15"/>
          <p:cNvSpPr txBox="1"/>
          <p:nvPr/>
        </p:nvSpPr>
        <p:spPr>
          <a:xfrm>
            <a:off x="6035040" y="301752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Linux</a:t>
            </a:r>
            <a:endParaRPr lang="en-US" sz="1500" dirty="0"/>
          </a:p>
        </p:txBody>
      </p:sp>
      <p:sp>
        <p:nvSpPr>
          <p:cNvPr id="18" name="Shape 16"/>
          <p:cNvSpPr/>
          <p:nvPr/>
        </p:nvSpPr>
        <p:spPr>
          <a:xfrm>
            <a:off x="8915400" y="3017520"/>
            <a:ext cx="2697480" cy="640080"/>
          </a:xfrm>
          <a:prstGeom prst="roundRect">
            <a:avLst>
              <a:gd name="adj" fmla="val 11429"/>
            </a:avLst>
          </a:prstGeom>
          <a:solidFill>
            <a:srgbClr val="1B7F4B"/>
          </a:solidFill>
          <a:ln w="12700">
            <a:solidFill>
              <a:srgbClr val="1B7F4B"/>
            </a:solidFill>
            <a:prstDash val="solid"/>
          </a:ln>
        </p:spPr>
        <p:txBody>
          <a:bodyPr/>
          <a:lstStyle/>
          <a:p>
            <a:endParaRPr lang="en-IN"/>
          </a:p>
        </p:txBody>
      </p:sp>
      <p:sp>
        <p:nvSpPr>
          <p:cNvPr id="19" name="Text 17"/>
          <p:cNvSpPr txBox="1"/>
          <p:nvPr/>
        </p:nvSpPr>
        <p:spPr>
          <a:xfrm>
            <a:off x="8915400" y="301752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Python</a:t>
            </a:r>
            <a:endParaRPr lang="en-US" sz="1500" dirty="0"/>
          </a:p>
        </p:txBody>
      </p:sp>
      <p:sp>
        <p:nvSpPr>
          <p:cNvPr id="20" name="Shape 18"/>
          <p:cNvSpPr/>
          <p:nvPr/>
        </p:nvSpPr>
        <p:spPr>
          <a:xfrm>
            <a:off x="6035040" y="3840480"/>
            <a:ext cx="2697480" cy="640080"/>
          </a:xfrm>
          <a:prstGeom prst="roundRect">
            <a:avLst>
              <a:gd name="adj" fmla="val 11429"/>
            </a:avLst>
          </a:prstGeom>
          <a:solidFill>
            <a:srgbClr val="0B3D2E"/>
          </a:solidFill>
          <a:ln w="12700">
            <a:solidFill>
              <a:srgbClr val="0B3D2E"/>
            </a:solidFill>
            <a:prstDash val="solid"/>
          </a:ln>
        </p:spPr>
        <p:txBody>
          <a:bodyPr/>
          <a:lstStyle/>
          <a:p>
            <a:endParaRPr lang="en-IN"/>
          </a:p>
        </p:txBody>
      </p:sp>
      <p:sp>
        <p:nvSpPr>
          <p:cNvPr id="21" name="Text 19"/>
          <p:cNvSpPr txBox="1"/>
          <p:nvPr/>
        </p:nvSpPr>
        <p:spPr>
          <a:xfrm>
            <a:off x="6035040" y="3840480"/>
            <a:ext cx="2697480" cy="64008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Troubleshooting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How This Project Will Support Industries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3</a:t>
            </a:r>
            <a:endParaRPr lang="en-US" sz="1000" dirty="0"/>
          </a:p>
        </p:txBody>
      </p:sp>
      <p:sp>
        <p:nvSpPr>
          <p:cNvPr id="4" name="Shape 2"/>
          <p:cNvSpPr/>
          <p:nvPr/>
        </p:nvSpPr>
        <p:spPr>
          <a:xfrm>
            <a:off x="548640" y="1188720"/>
            <a:ext cx="2663190" cy="548640"/>
          </a:xfrm>
          <a:prstGeom prst="roundRect">
            <a:avLst>
              <a:gd name="adj" fmla="val 13333"/>
            </a:avLst>
          </a:prstGeom>
          <a:solidFill>
            <a:srgbClr val="0B3D2E"/>
          </a:solidFill>
          <a:ln w="12700">
            <a:solidFill>
              <a:srgbClr val="0B3D2E"/>
            </a:solidFill>
            <a:prstDash val="solid"/>
          </a:ln>
        </p:spPr>
        <p:txBody>
          <a:bodyPr/>
          <a:lstStyle/>
          <a:p>
            <a:endParaRPr lang="en-IN"/>
          </a:p>
        </p:txBody>
      </p:sp>
      <p:sp>
        <p:nvSpPr>
          <p:cNvPr id="5" name="Text 3"/>
          <p:cNvSpPr txBox="1"/>
          <p:nvPr/>
        </p:nvSpPr>
        <p:spPr>
          <a:xfrm>
            <a:off x="548640" y="11887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IT Companies</a:t>
            </a:r>
            <a:endParaRPr lang="en-US" sz="1300" dirty="0"/>
          </a:p>
        </p:txBody>
      </p:sp>
      <p:sp>
        <p:nvSpPr>
          <p:cNvPr id="6" name="Shape 4"/>
          <p:cNvSpPr/>
          <p:nvPr/>
        </p:nvSpPr>
        <p:spPr>
          <a:xfrm>
            <a:off x="3348990" y="1188720"/>
            <a:ext cx="2663190" cy="548640"/>
          </a:xfrm>
          <a:prstGeom prst="roundRect">
            <a:avLst>
              <a:gd name="adj" fmla="val 13333"/>
            </a:avLst>
          </a:prstGeom>
          <a:solidFill>
            <a:srgbClr val="1B7F4B"/>
          </a:solidFill>
          <a:ln w="12700">
            <a:solidFill>
              <a:srgbClr val="1B7F4B"/>
            </a:solidFill>
            <a:prstDash val="solid"/>
          </a:ln>
        </p:spPr>
        <p:txBody>
          <a:bodyPr/>
          <a:lstStyle/>
          <a:p>
            <a:endParaRPr lang="en-IN"/>
          </a:p>
        </p:txBody>
      </p:sp>
      <p:sp>
        <p:nvSpPr>
          <p:cNvPr id="7" name="Text 5"/>
          <p:cNvSpPr txBox="1"/>
          <p:nvPr/>
        </p:nvSpPr>
        <p:spPr>
          <a:xfrm>
            <a:off x="3348990" y="11887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Banking</a:t>
            </a:r>
            <a:endParaRPr lang="en-US" sz="1300" dirty="0"/>
          </a:p>
        </p:txBody>
      </p:sp>
      <p:sp>
        <p:nvSpPr>
          <p:cNvPr id="8" name="Shape 6"/>
          <p:cNvSpPr/>
          <p:nvPr/>
        </p:nvSpPr>
        <p:spPr>
          <a:xfrm>
            <a:off x="6149340" y="1188720"/>
            <a:ext cx="2663190" cy="548640"/>
          </a:xfrm>
          <a:prstGeom prst="roundRect">
            <a:avLst>
              <a:gd name="adj" fmla="val 13333"/>
            </a:avLst>
          </a:prstGeom>
          <a:solidFill>
            <a:srgbClr val="0B3D2E"/>
          </a:solidFill>
          <a:ln w="12700">
            <a:solidFill>
              <a:srgbClr val="0B3D2E"/>
            </a:solidFill>
            <a:prstDash val="solid"/>
          </a:ln>
        </p:spPr>
        <p:txBody>
          <a:bodyPr/>
          <a:lstStyle/>
          <a:p>
            <a:endParaRPr lang="en-IN"/>
          </a:p>
        </p:txBody>
      </p:sp>
      <p:sp>
        <p:nvSpPr>
          <p:cNvPr id="9" name="Text 7"/>
          <p:cNvSpPr txBox="1"/>
          <p:nvPr/>
        </p:nvSpPr>
        <p:spPr>
          <a:xfrm>
            <a:off x="6149340" y="11887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Education</a:t>
            </a:r>
            <a:endParaRPr lang="en-US" sz="1300" dirty="0"/>
          </a:p>
        </p:txBody>
      </p:sp>
      <p:sp>
        <p:nvSpPr>
          <p:cNvPr id="10" name="Shape 8"/>
          <p:cNvSpPr/>
          <p:nvPr/>
        </p:nvSpPr>
        <p:spPr>
          <a:xfrm>
            <a:off x="8949690" y="1188720"/>
            <a:ext cx="2663190" cy="548640"/>
          </a:xfrm>
          <a:prstGeom prst="roundRect">
            <a:avLst>
              <a:gd name="adj" fmla="val 13333"/>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8949690" y="11887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Hospitals</a:t>
            </a:r>
            <a:endParaRPr lang="en-US" sz="1300" dirty="0"/>
          </a:p>
        </p:txBody>
      </p:sp>
      <p:sp>
        <p:nvSpPr>
          <p:cNvPr id="12" name="Shape 10"/>
          <p:cNvSpPr/>
          <p:nvPr/>
        </p:nvSpPr>
        <p:spPr>
          <a:xfrm>
            <a:off x="548640" y="1874520"/>
            <a:ext cx="2663190" cy="548640"/>
          </a:xfrm>
          <a:prstGeom prst="roundRect">
            <a:avLst>
              <a:gd name="adj" fmla="val 13333"/>
            </a:avLst>
          </a:prstGeom>
          <a:solidFill>
            <a:srgbClr val="0B3D2E"/>
          </a:solidFill>
          <a:ln w="12700">
            <a:solidFill>
              <a:srgbClr val="0B3D2E"/>
            </a:solidFill>
            <a:prstDash val="solid"/>
          </a:ln>
        </p:spPr>
        <p:txBody>
          <a:bodyPr/>
          <a:lstStyle/>
          <a:p>
            <a:endParaRPr lang="en-IN"/>
          </a:p>
        </p:txBody>
      </p:sp>
      <p:sp>
        <p:nvSpPr>
          <p:cNvPr id="13" name="Text 11"/>
          <p:cNvSpPr txBox="1"/>
          <p:nvPr/>
        </p:nvSpPr>
        <p:spPr>
          <a:xfrm>
            <a:off x="548640" y="18745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Corporate Offices</a:t>
            </a:r>
            <a:endParaRPr lang="en-US" sz="1300" dirty="0"/>
          </a:p>
        </p:txBody>
      </p:sp>
      <p:sp>
        <p:nvSpPr>
          <p:cNvPr id="14" name="Shape 12"/>
          <p:cNvSpPr/>
          <p:nvPr/>
        </p:nvSpPr>
        <p:spPr>
          <a:xfrm>
            <a:off x="3348990" y="1874520"/>
            <a:ext cx="2663190" cy="548640"/>
          </a:xfrm>
          <a:prstGeom prst="roundRect">
            <a:avLst>
              <a:gd name="adj" fmla="val 13333"/>
            </a:avLst>
          </a:prstGeom>
          <a:solidFill>
            <a:srgbClr val="1B7F4B"/>
          </a:solidFill>
          <a:ln w="12700">
            <a:solidFill>
              <a:srgbClr val="1B7F4B"/>
            </a:solidFill>
            <a:prstDash val="solid"/>
          </a:ln>
        </p:spPr>
        <p:txBody>
          <a:bodyPr/>
          <a:lstStyle/>
          <a:p>
            <a:endParaRPr lang="en-IN"/>
          </a:p>
        </p:txBody>
      </p:sp>
      <p:sp>
        <p:nvSpPr>
          <p:cNvPr id="15" name="Text 13"/>
          <p:cNvSpPr txBox="1"/>
          <p:nvPr/>
        </p:nvSpPr>
        <p:spPr>
          <a:xfrm>
            <a:off x="3348990" y="18745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Retail</a:t>
            </a:r>
            <a:endParaRPr lang="en-US" sz="1300" dirty="0"/>
          </a:p>
        </p:txBody>
      </p:sp>
      <p:sp>
        <p:nvSpPr>
          <p:cNvPr id="16" name="Shape 14"/>
          <p:cNvSpPr/>
          <p:nvPr/>
        </p:nvSpPr>
        <p:spPr>
          <a:xfrm>
            <a:off x="6149340" y="1874520"/>
            <a:ext cx="2663190" cy="548640"/>
          </a:xfrm>
          <a:prstGeom prst="roundRect">
            <a:avLst>
              <a:gd name="adj" fmla="val 13333"/>
            </a:avLst>
          </a:prstGeom>
          <a:solidFill>
            <a:srgbClr val="0B3D2E"/>
          </a:solidFill>
          <a:ln w="12700">
            <a:solidFill>
              <a:srgbClr val="0B3D2E"/>
            </a:solidFill>
            <a:prstDash val="solid"/>
          </a:ln>
        </p:spPr>
        <p:txBody>
          <a:bodyPr/>
          <a:lstStyle/>
          <a:p>
            <a:endParaRPr lang="en-IN"/>
          </a:p>
        </p:txBody>
      </p:sp>
      <p:sp>
        <p:nvSpPr>
          <p:cNvPr id="17" name="Text 15"/>
          <p:cNvSpPr txBox="1"/>
          <p:nvPr/>
        </p:nvSpPr>
        <p:spPr>
          <a:xfrm>
            <a:off x="6149340" y="18745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Government</a:t>
            </a:r>
            <a:endParaRPr lang="en-US" sz="1300" dirty="0"/>
          </a:p>
        </p:txBody>
      </p:sp>
      <p:sp>
        <p:nvSpPr>
          <p:cNvPr id="18" name="Shape 16"/>
          <p:cNvSpPr/>
          <p:nvPr/>
        </p:nvSpPr>
        <p:spPr>
          <a:xfrm>
            <a:off x="8949690" y="1874520"/>
            <a:ext cx="2663190" cy="548640"/>
          </a:xfrm>
          <a:prstGeom prst="roundRect">
            <a:avLst>
              <a:gd name="adj" fmla="val 13333"/>
            </a:avLst>
          </a:prstGeom>
          <a:solidFill>
            <a:srgbClr val="1B7F4B"/>
          </a:solidFill>
          <a:ln w="12700">
            <a:solidFill>
              <a:srgbClr val="1B7F4B"/>
            </a:solidFill>
            <a:prstDash val="solid"/>
          </a:ln>
        </p:spPr>
        <p:txBody>
          <a:bodyPr/>
          <a:lstStyle/>
          <a:p>
            <a:endParaRPr lang="en-IN"/>
          </a:p>
        </p:txBody>
      </p:sp>
      <p:sp>
        <p:nvSpPr>
          <p:cNvPr id="19" name="Text 17"/>
          <p:cNvSpPr txBox="1"/>
          <p:nvPr/>
        </p:nvSpPr>
        <p:spPr>
          <a:xfrm>
            <a:off x="8949690" y="1874520"/>
            <a:ext cx="2663190" cy="54864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Multi-branch Firms</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1615440"/>
        </p:xfrm>
        <a:graphic>
          <a:graphicData uri="http://schemas.openxmlformats.org/drawingml/2006/table">
            <a:tbl>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Project concept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Industry benefit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Hierarchical Main–Core–Site design</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Scales by adding sites without re-addressing</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OSPF multi-area + eBGP</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Fast, stable routing between locations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DHCP on site routers, central DNS/web</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Automatic addressing; shared services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ACLs, SSH v2, NAT/PAT, STP</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Controlled traffic and secure management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bl>
          </a:graphicData>
        </a:graphic>
      </p:graphicFrame>
      <p:sp>
        <p:nvSpPr>
          <p:cNvPr id="21" name="Text 18"/>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400" i="1" dirty="0">
                <a:solidFill>
                  <a:srgbClr val="4F6B5C"/>
                </a:solidFill>
                <a:latin typeface="Calibri" pitchFamily="34" charset="0"/>
                <a:ea typeface="Calibri" pitchFamily="34" charset="-122"/>
                <a:cs typeface="Calibri" pitchFamily="34" charset="-120"/>
              </a:rPr>
              <a:t>Packet Tracer is a simulation: these are representative enterprise practices, not a production deployment.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Challenges Faced During the Project</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4</a:t>
            </a:r>
            <a:endParaRPr lang="en-US" sz="1000" dirty="0"/>
          </a:p>
        </p:txBody>
      </p:sp>
      <p:sp>
        <p:nvSpPr>
          <p:cNvPr id="4" name="Text 2"/>
          <p:cNvSpPr txBox="1"/>
          <p:nvPr/>
        </p:nvSpPr>
        <p:spPr>
          <a:xfrm>
            <a:off x="548640" y="1280160"/>
            <a:ext cx="539496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Supplied file had cabling only: all interfaces down, no IPs, services off</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Planning VLSM: /30 links and /28 LANs without overlap</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Matching brief, screenshot and .pkt (16 vs 17 routers, ATM site)</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13 per-site servers not cabled</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Serial DCE/DTE and clock rate setup</a:t>
            </a:r>
            <a:endParaRPr lang="en-US" sz="1500" dirty="0"/>
          </a:p>
        </p:txBody>
      </p:sp>
      <p:sp>
        <p:nvSpPr>
          <p:cNvPr id="5" name="Text 3"/>
          <p:cNvSpPr txBox="1"/>
          <p:nvPr/>
        </p:nvSpPr>
        <p:spPr>
          <a:xfrm>
            <a:off x="6217920" y="1280160"/>
            <a:ext cx="539496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Multi-area OSPF and ABR design</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eBGP: avoiding loop rejection between Head Office routers</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NAT/PAT and ACLs without blocking OSPF, BGP or SSH</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DHCP exclusions for printers, servers, switches</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Keeping addressing, CLI and documentation consistent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How I Resolved the Issues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2048256"/>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Analysis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Count mismatch</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Compared brief, screenshot and .pkt</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Baseline 17 routers / 27 switches; extras recorded as verification issues V1–V10</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IP complexity</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156 PCs, 28 laptops, 14 printers, 16 servers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One VLSM plan: /30 from 100.1.0.0/24, /28 per switch segment</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Routing design</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Tree topology, many routers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Multi-area OSPF (areas 0–3), manual router IDs, passive LAN ports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BGP loops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Shared AS would reject routes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Core-R1 AS 65001; HO-R1..4 use AS 65101–65104</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ACL / NAT impact</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Management and routing traffic</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Permit 100.x.x.x; NAT only for HO to server LAN</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SSH / DHCP</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Prerequisites and exclusions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200" dirty="0">
                          <a:solidFill>
                            <a:srgbClr val="1F3329"/>
                          </a:solidFill>
                          <a:latin typeface="Calibri" pitchFamily="34" charset="0"/>
                          <a:ea typeface="Calibri" pitchFamily="34" charset="-122"/>
                          <a:cs typeface="Calibri" pitchFamily="34" charset="-120"/>
                        </a:rPr>
                        <a:t>Hostname, domain, RSA, VTY; excluded gateway, SVI, static hosts</a:t>
                      </a:r>
                      <a:endParaRPr lang="en-US" sz="12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Project at a Glance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6</a:t>
            </a:r>
            <a:endParaRPr lang="en-US" sz="1000" dirty="0"/>
          </a:p>
        </p:txBody>
      </p:sp>
      <p:sp>
        <p:nvSpPr>
          <p:cNvPr id="4" name="Shape 2"/>
          <p:cNvSpPr/>
          <p:nvPr/>
        </p:nvSpPr>
        <p:spPr>
          <a:xfrm>
            <a:off x="548640" y="128016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5" name="Text 3"/>
          <p:cNvSpPr txBox="1"/>
          <p:nvPr/>
        </p:nvSpPr>
        <p:spPr>
          <a:xfrm>
            <a:off x="731520" y="128016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17</a:t>
            </a:r>
            <a:endParaRPr lang="en-US" sz="4600" dirty="0"/>
          </a:p>
        </p:txBody>
      </p:sp>
      <p:sp>
        <p:nvSpPr>
          <p:cNvPr id="6" name="Text 4"/>
          <p:cNvSpPr txBox="1"/>
          <p:nvPr/>
        </p:nvSpPr>
        <p:spPr>
          <a:xfrm>
            <a:off x="2286000" y="128016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Routers (2811)</a:t>
            </a:r>
            <a:endParaRPr lang="en-US" sz="1800" dirty="0"/>
          </a:p>
        </p:txBody>
      </p:sp>
      <p:sp>
        <p:nvSpPr>
          <p:cNvPr id="7" name="Shape 5"/>
          <p:cNvSpPr/>
          <p:nvPr/>
        </p:nvSpPr>
        <p:spPr>
          <a:xfrm>
            <a:off x="4297680" y="128016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8" name="Text 6"/>
          <p:cNvSpPr txBox="1"/>
          <p:nvPr/>
        </p:nvSpPr>
        <p:spPr>
          <a:xfrm>
            <a:off x="4480560" y="128016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27</a:t>
            </a:r>
            <a:endParaRPr lang="en-US" sz="4600" dirty="0"/>
          </a:p>
        </p:txBody>
      </p:sp>
      <p:sp>
        <p:nvSpPr>
          <p:cNvPr id="9" name="Text 7"/>
          <p:cNvSpPr txBox="1"/>
          <p:nvPr/>
        </p:nvSpPr>
        <p:spPr>
          <a:xfrm>
            <a:off x="6035040" y="128016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Switches (2960)</a:t>
            </a:r>
            <a:endParaRPr lang="en-US" sz="1800" dirty="0"/>
          </a:p>
        </p:txBody>
      </p:sp>
      <p:sp>
        <p:nvSpPr>
          <p:cNvPr id="10" name="Shape 8"/>
          <p:cNvSpPr/>
          <p:nvPr/>
        </p:nvSpPr>
        <p:spPr>
          <a:xfrm>
            <a:off x="8046720" y="128016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11" name="Text 9"/>
          <p:cNvSpPr txBox="1"/>
          <p:nvPr/>
        </p:nvSpPr>
        <p:spPr>
          <a:xfrm>
            <a:off x="8229600" y="128016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156</a:t>
            </a:r>
            <a:endParaRPr lang="en-US" sz="4600" dirty="0"/>
          </a:p>
        </p:txBody>
      </p:sp>
      <p:sp>
        <p:nvSpPr>
          <p:cNvPr id="12" name="Text 10"/>
          <p:cNvSpPr txBox="1"/>
          <p:nvPr/>
        </p:nvSpPr>
        <p:spPr>
          <a:xfrm>
            <a:off x="9784080" y="128016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PCs</a:t>
            </a:r>
            <a:endParaRPr lang="en-US" sz="1800" dirty="0"/>
          </a:p>
        </p:txBody>
      </p:sp>
      <p:sp>
        <p:nvSpPr>
          <p:cNvPr id="13" name="Shape 11"/>
          <p:cNvSpPr/>
          <p:nvPr/>
        </p:nvSpPr>
        <p:spPr>
          <a:xfrm>
            <a:off x="548640" y="283464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14" name="Text 12"/>
          <p:cNvSpPr txBox="1"/>
          <p:nvPr/>
        </p:nvSpPr>
        <p:spPr>
          <a:xfrm>
            <a:off x="731520" y="283464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28</a:t>
            </a:r>
            <a:endParaRPr lang="en-US" sz="4600" dirty="0"/>
          </a:p>
        </p:txBody>
      </p:sp>
      <p:sp>
        <p:nvSpPr>
          <p:cNvPr id="15" name="Text 13"/>
          <p:cNvSpPr txBox="1"/>
          <p:nvPr/>
        </p:nvSpPr>
        <p:spPr>
          <a:xfrm>
            <a:off x="2286000" y="283464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Laptops</a:t>
            </a:r>
            <a:endParaRPr lang="en-US" sz="1800" dirty="0"/>
          </a:p>
        </p:txBody>
      </p:sp>
      <p:sp>
        <p:nvSpPr>
          <p:cNvPr id="16" name="Shape 14"/>
          <p:cNvSpPr/>
          <p:nvPr/>
        </p:nvSpPr>
        <p:spPr>
          <a:xfrm>
            <a:off x="4297680" y="283464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17" name="Text 15"/>
          <p:cNvSpPr txBox="1"/>
          <p:nvPr/>
        </p:nvSpPr>
        <p:spPr>
          <a:xfrm>
            <a:off x="4480560" y="283464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14</a:t>
            </a:r>
            <a:endParaRPr lang="en-US" sz="4600" dirty="0"/>
          </a:p>
        </p:txBody>
      </p:sp>
      <p:sp>
        <p:nvSpPr>
          <p:cNvPr id="18" name="Text 16"/>
          <p:cNvSpPr txBox="1"/>
          <p:nvPr/>
        </p:nvSpPr>
        <p:spPr>
          <a:xfrm>
            <a:off x="6035040" y="283464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Printers</a:t>
            </a:r>
            <a:endParaRPr lang="en-US" sz="1800" dirty="0"/>
          </a:p>
        </p:txBody>
      </p:sp>
      <p:sp>
        <p:nvSpPr>
          <p:cNvPr id="19" name="Shape 17"/>
          <p:cNvSpPr/>
          <p:nvPr/>
        </p:nvSpPr>
        <p:spPr>
          <a:xfrm>
            <a:off x="8046720" y="2834640"/>
            <a:ext cx="3566160" cy="1371600"/>
          </a:xfrm>
          <a:prstGeom prst="roundRect">
            <a:avLst>
              <a:gd name="adj" fmla="val 6667"/>
            </a:avLst>
          </a:prstGeom>
          <a:solidFill>
            <a:srgbClr val="E6F4EA"/>
          </a:solidFill>
          <a:ln w="12700">
            <a:solidFill>
              <a:srgbClr val="E6F4EA"/>
            </a:solidFill>
            <a:prstDash val="solid"/>
          </a:ln>
        </p:spPr>
        <p:txBody>
          <a:bodyPr/>
          <a:lstStyle/>
          <a:p>
            <a:endParaRPr lang="en-IN"/>
          </a:p>
        </p:txBody>
      </p:sp>
      <p:sp>
        <p:nvSpPr>
          <p:cNvPr id="20" name="Text 18"/>
          <p:cNvSpPr txBox="1"/>
          <p:nvPr/>
        </p:nvSpPr>
        <p:spPr>
          <a:xfrm>
            <a:off x="8229600" y="2834640"/>
            <a:ext cx="1554480" cy="1371600"/>
          </a:xfrm>
          <a:prstGeom prst="rect">
            <a:avLst/>
          </a:prstGeom>
          <a:noFill/>
          <a:ln/>
        </p:spPr>
        <p:txBody>
          <a:bodyPr wrap="square" lIns="0" tIns="0" rIns="0" bIns="0" rtlCol="0" anchor="ctr"/>
          <a:lstStyle/>
          <a:p>
            <a:pPr marL="0" indent="0">
              <a:buNone/>
            </a:pPr>
            <a:r>
              <a:rPr lang="en-US" sz="4600" b="1" dirty="0">
                <a:solidFill>
                  <a:srgbClr val="1B7F4B"/>
                </a:solidFill>
                <a:latin typeface="Cambria" pitchFamily="34" charset="0"/>
                <a:ea typeface="Cambria" pitchFamily="34" charset="-122"/>
                <a:cs typeface="Cambria" pitchFamily="34" charset="-120"/>
              </a:rPr>
              <a:t>16</a:t>
            </a:r>
            <a:endParaRPr lang="en-US" sz="4600" dirty="0"/>
          </a:p>
        </p:txBody>
      </p:sp>
      <p:sp>
        <p:nvSpPr>
          <p:cNvPr id="21" name="Text 19"/>
          <p:cNvSpPr txBox="1"/>
          <p:nvPr/>
        </p:nvSpPr>
        <p:spPr>
          <a:xfrm>
            <a:off x="9784080" y="2834640"/>
            <a:ext cx="1737360" cy="1371600"/>
          </a:xfrm>
          <a:prstGeom prst="rect">
            <a:avLst/>
          </a:prstGeom>
          <a:noFill/>
          <a:ln/>
        </p:spPr>
        <p:txBody>
          <a:bodyPr wrap="square" lIns="0" tIns="0" rIns="0" bIns="0" rtlCol="0" anchor="ctr"/>
          <a:lstStyle/>
          <a:p>
            <a:pPr marL="0" indent="0">
              <a:buNone/>
            </a:pPr>
            <a:r>
              <a:rPr lang="en-US" sz="1800" b="1" dirty="0">
                <a:solidFill>
                  <a:srgbClr val="0B3D2E"/>
                </a:solidFill>
                <a:latin typeface="Calibri" pitchFamily="34" charset="0"/>
                <a:ea typeface="Calibri" pitchFamily="34" charset="-122"/>
                <a:cs typeface="Calibri" pitchFamily="34" charset="-120"/>
              </a:rPr>
              <a:t>Servers</a:t>
            </a:r>
            <a:endParaRPr lang="en-US" sz="1800" dirty="0"/>
          </a:p>
        </p:txBody>
      </p:sp>
      <p:sp>
        <p:nvSpPr>
          <p:cNvPr id="22" name="Text 20"/>
          <p:cNvSpPr txBox="1"/>
          <p:nvPr/>
        </p:nvSpPr>
        <p:spPr>
          <a:xfrm>
            <a:off x="548640" y="448056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Sites: Main, 3 Core, Head Office, Branch, School, College</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Routing: multi-area OSPF + eBGP; Services: DHCP, DNS, HTTP/HTTPS, NAT/PAT</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Security: ACLs, SSH v2, secret passwords, STP protections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Problem Statement and Objectives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7</a:t>
            </a:r>
            <a:endParaRPr lang="en-US" sz="1000" dirty="0"/>
          </a:p>
        </p:txBody>
      </p:sp>
      <p:sp>
        <p:nvSpPr>
          <p:cNvPr id="4" name="Shape 2"/>
          <p:cNvSpPr/>
          <p:nvPr/>
        </p:nvSpPr>
        <p:spPr>
          <a:xfrm>
            <a:off x="548640" y="1280160"/>
            <a:ext cx="5120640" cy="4754880"/>
          </a:xfrm>
          <a:prstGeom prst="roundRect">
            <a:avLst>
              <a:gd name="adj" fmla="val 1923"/>
            </a:avLst>
          </a:prstGeom>
          <a:solidFill>
            <a:srgbClr val="E6F4EA"/>
          </a:solidFill>
          <a:ln w="12700">
            <a:solidFill>
              <a:srgbClr val="E6F4EA"/>
            </a:solidFill>
            <a:prstDash val="solid"/>
          </a:ln>
        </p:spPr>
        <p:txBody>
          <a:bodyPr/>
          <a:lstStyle/>
          <a:p>
            <a:endParaRPr lang="en-IN"/>
          </a:p>
        </p:txBody>
      </p:sp>
      <p:sp>
        <p:nvSpPr>
          <p:cNvPr id="5" name="Text 3"/>
          <p:cNvSpPr txBox="1"/>
          <p:nvPr/>
        </p:nvSpPr>
        <p:spPr>
          <a:xfrm>
            <a:off x="731520" y="1389888"/>
            <a:ext cx="4754880" cy="41148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Problem</a:t>
            </a:r>
            <a:endParaRPr lang="en-US" sz="1700" dirty="0"/>
          </a:p>
        </p:txBody>
      </p:sp>
      <p:sp>
        <p:nvSpPr>
          <p:cNvPr id="6" name="Text 4"/>
          <p:cNvSpPr txBox="1"/>
          <p:nvPr/>
        </p:nvSpPr>
        <p:spPr>
          <a:xfrm>
            <a:off x="731520" y="1828800"/>
            <a:ext cx="4754880" cy="4114800"/>
          </a:xfrm>
          <a:prstGeom prst="rect">
            <a:avLst/>
          </a:prstGeom>
          <a:noFill/>
          <a:ln/>
        </p:spPr>
        <p:txBody>
          <a:bodyPr wrap="square" lIns="0" tIns="0" rIns="0" bIns="0" rtlCol="0" anchor="t"/>
          <a:lstStyle/>
          <a:p>
            <a:pPr marL="0" indent="0">
              <a:buNone/>
            </a:pPr>
            <a:r>
              <a:rPr lang="en-US" sz="1400" dirty="0">
                <a:solidFill>
                  <a:srgbClr val="1F3329"/>
                </a:solidFill>
                <a:latin typeface="Calibri" pitchFamily="34" charset="0"/>
                <a:ea typeface="Calibri" pitchFamily="34" charset="-122"/>
                <a:cs typeface="Calibri" pitchFamily="34" charset="-120"/>
              </a:rPr>
              <a:t>Supplied project had cabling only. A complete, consistent addressing, routing, services and security design was needed.</a:t>
            </a:r>
            <a:endParaRPr lang="en-US" sz="1400" dirty="0"/>
          </a:p>
        </p:txBody>
      </p:sp>
      <p:sp>
        <p:nvSpPr>
          <p:cNvPr id="7" name="Text 5"/>
          <p:cNvSpPr txBox="1"/>
          <p:nvPr/>
        </p:nvSpPr>
        <p:spPr>
          <a:xfrm>
            <a:off x="6035040" y="1371600"/>
            <a:ext cx="5577840" cy="4572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Document topology without altering it</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VLSM plan: /30 links, /28 LANs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OSPF multi-area and eBGP</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DHCP, DNS, HTTP/HTTPS for all sites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NAT/PAT at Head Office; ACLs at HO, BO, College</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SSH v2 and hardening on all devices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Complete Network Topology</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8</a:t>
            </a:r>
            <a:endParaRPr lang="en-US" sz="1000" dirty="0"/>
          </a:p>
        </p:txBody>
      </p:sp>
      <p:pic>
        <p:nvPicPr>
          <p:cNvPr id="4" name="Image 0" descr="topo-000.png"/>
          <p:cNvPicPr>
            <a:picLocks noChangeAspect="1"/>
          </p:cNvPicPr>
          <p:nvPr/>
        </p:nvPicPr>
        <p:blipFill>
          <a:blip r:embed="rId3"/>
          <a:stretch>
            <a:fillRect/>
          </a:stretch>
        </p:blipFill>
        <p:spPr>
          <a:xfrm>
            <a:off x="548640" y="1097280"/>
            <a:ext cx="11064240" cy="4836328"/>
          </a:xfrm>
          <a:prstGeom prst="rect">
            <a:avLst/>
          </a:prstGeom>
        </p:spPr>
      </p:pic>
      <p:sp>
        <p:nvSpPr>
          <p:cNvPr id="5" name="Text 2"/>
          <p:cNvSpPr txBox="1"/>
          <p:nvPr/>
        </p:nvSpPr>
        <p:spPr>
          <a:xfrm>
            <a:off x="548640" y="6070768"/>
            <a:ext cx="11064240" cy="457200"/>
          </a:xfrm>
          <a:prstGeom prst="rect">
            <a:avLst/>
          </a:prstGeom>
          <a:noFill/>
          <a:ln/>
        </p:spPr>
        <p:txBody>
          <a:bodyPr wrap="square" lIns="0" tIns="0" rIns="0" bIns="0" rtlCol="0" anchor="ctr"/>
          <a:lstStyle/>
          <a:p>
            <a:pPr marL="0" indent="0">
              <a:buNone/>
            </a:pPr>
            <a:r>
              <a:rPr lang="en-US" sz="1400" i="1" dirty="0">
                <a:solidFill>
                  <a:srgbClr val="4F6B5C"/>
                </a:solidFill>
                <a:latin typeface="Calibri" pitchFamily="34" charset="0"/>
                <a:ea typeface="Calibri" pitchFamily="34" charset="-122"/>
                <a:cs typeface="Calibri" pitchFamily="34" charset="-120"/>
              </a:rPr>
              <a:t>Author's Packet Tracer screenshot. Green = Head Office, cyan = College, orange = Branch Office, yellow = School.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Network Architecture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9</a:t>
            </a:r>
            <a:endParaRPr lang="en-US" sz="1000" dirty="0"/>
          </a:p>
        </p:txBody>
      </p:sp>
      <p:sp>
        <p:nvSpPr>
          <p:cNvPr id="4" name="Shape 2"/>
          <p:cNvSpPr/>
          <p:nvPr/>
        </p:nvSpPr>
        <p:spPr>
          <a:xfrm>
            <a:off x="1371600" y="1188720"/>
            <a:ext cx="9418320" cy="731520"/>
          </a:xfrm>
          <a:prstGeom prst="roundRect">
            <a:avLst>
              <a:gd name="adj" fmla="val 10000"/>
            </a:avLst>
          </a:prstGeom>
          <a:solidFill>
            <a:srgbClr val="0B3D2E"/>
          </a:solidFill>
          <a:ln w="12700">
            <a:solidFill>
              <a:srgbClr val="0B3D2E"/>
            </a:solidFill>
            <a:prstDash val="solid"/>
          </a:ln>
        </p:spPr>
        <p:txBody>
          <a:bodyPr/>
          <a:lstStyle/>
          <a:p>
            <a:endParaRPr lang="en-IN"/>
          </a:p>
        </p:txBody>
      </p:sp>
      <p:sp>
        <p:nvSpPr>
          <p:cNvPr id="5" name="Text 3"/>
          <p:cNvSpPr txBox="1"/>
          <p:nvPr/>
        </p:nvSpPr>
        <p:spPr>
          <a:xfrm>
            <a:off x="1371600" y="1188720"/>
            <a:ext cx="9418320" cy="731520"/>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MAIN - R   (100.0.0.0/24 server LAN: DNS, web, backup)</a:t>
            </a:r>
            <a:endParaRPr lang="en-US" sz="1700" dirty="0"/>
          </a:p>
        </p:txBody>
      </p:sp>
      <p:sp>
        <p:nvSpPr>
          <p:cNvPr id="6" name="Shape 4"/>
          <p:cNvSpPr/>
          <p:nvPr/>
        </p:nvSpPr>
        <p:spPr>
          <a:xfrm>
            <a:off x="1371600" y="2286000"/>
            <a:ext cx="9418320" cy="731520"/>
          </a:xfrm>
          <a:prstGeom prst="roundRect">
            <a:avLst>
              <a:gd name="adj" fmla="val 10000"/>
            </a:avLst>
          </a:prstGeom>
          <a:solidFill>
            <a:srgbClr val="1B7F4B"/>
          </a:solidFill>
          <a:ln w="12700">
            <a:solidFill>
              <a:srgbClr val="1B7F4B"/>
            </a:solidFill>
            <a:prstDash val="solid"/>
          </a:ln>
        </p:spPr>
        <p:txBody>
          <a:bodyPr/>
          <a:lstStyle/>
          <a:p>
            <a:endParaRPr lang="en-IN"/>
          </a:p>
        </p:txBody>
      </p:sp>
      <p:sp>
        <p:nvSpPr>
          <p:cNvPr id="7" name="Text 5"/>
          <p:cNvSpPr txBox="1"/>
          <p:nvPr/>
        </p:nvSpPr>
        <p:spPr>
          <a:xfrm>
            <a:off x="1371600" y="2286000"/>
            <a:ext cx="9418320" cy="731520"/>
          </a:xfrm>
          <a:prstGeom prst="rect">
            <a:avLst/>
          </a:prstGeom>
          <a:noFill/>
          <a:ln/>
        </p:spPr>
        <p:txBody>
          <a:bodyPr wrap="square" lIns="508" tIns="508" rIns="508" bIns="508"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CORE-R1  ·  CORE-R2  ·  CORE-R3   (OSPF ABRs; Core-R1 = eBGP hub)</a:t>
            </a:r>
            <a:endParaRPr lang="en-US" sz="1700" dirty="0"/>
          </a:p>
        </p:txBody>
      </p:sp>
      <p:sp>
        <p:nvSpPr>
          <p:cNvPr id="8" name="Shape 6"/>
          <p:cNvSpPr/>
          <p:nvPr/>
        </p:nvSpPr>
        <p:spPr>
          <a:xfrm>
            <a:off x="548640" y="3383280"/>
            <a:ext cx="2651760" cy="1005840"/>
          </a:xfrm>
          <a:prstGeom prst="roundRect">
            <a:avLst>
              <a:gd name="adj" fmla="val 7273"/>
            </a:avLst>
          </a:prstGeom>
          <a:solidFill>
            <a:srgbClr val="1B7F4B"/>
          </a:solidFill>
          <a:ln w="12700">
            <a:solidFill>
              <a:srgbClr val="1B7F4B"/>
            </a:solidFill>
            <a:prstDash val="solid"/>
          </a:ln>
        </p:spPr>
        <p:txBody>
          <a:bodyPr/>
          <a:lstStyle/>
          <a:p>
            <a:endParaRPr lang="en-IN"/>
          </a:p>
        </p:txBody>
      </p:sp>
      <p:sp>
        <p:nvSpPr>
          <p:cNvPr id="9" name="Text 7"/>
          <p:cNvSpPr txBox="1"/>
          <p:nvPr/>
        </p:nvSpPr>
        <p:spPr>
          <a:xfrm>
            <a:off x="548640" y="3383280"/>
            <a:ext cx="2651760" cy="100584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Head Office</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HO-R1..4</a:t>
            </a:r>
            <a:endParaRPr lang="en-US" sz="1500" dirty="0"/>
          </a:p>
        </p:txBody>
      </p:sp>
      <p:sp>
        <p:nvSpPr>
          <p:cNvPr id="10" name="Shape 8"/>
          <p:cNvSpPr/>
          <p:nvPr/>
        </p:nvSpPr>
        <p:spPr>
          <a:xfrm>
            <a:off x="3383280" y="3383280"/>
            <a:ext cx="2651760" cy="1005840"/>
          </a:xfrm>
          <a:prstGeom prst="roundRect">
            <a:avLst>
              <a:gd name="adj" fmla="val 7273"/>
            </a:avLst>
          </a:prstGeom>
          <a:solidFill>
            <a:srgbClr val="3FA66B"/>
          </a:solidFill>
          <a:ln w="12700">
            <a:solidFill>
              <a:srgbClr val="3FA66B"/>
            </a:solidFill>
            <a:prstDash val="solid"/>
          </a:ln>
        </p:spPr>
        <p:txBody>
          <a:bodyPr/>
          <a:lstStyle/>
          <a:p>
            <a:endParaRPr lang="en-IN"/>
          </a:p>
        </p:txBody>
      </p:sp>
      <p:sp>
        <p:nvSpPr>
          <p:cNvPr id="11" name="Text 9"/>
          <p:cNvSpPr txBox="1"/>
          <p:nvPr/>
        </p:nvSpPr>
        <p:spPr>
          <a:xfrm>
            <a:off x="3383280" y="3383280"/>
            <a:ext cx="2651760" cy="100584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Branch Office</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BO-R1..3</a:t>
            </a:r>
            <a:endParaRPr lang="en-US" sz="1500" dirty="0"/>
          </a:p>
        </p:txBody>
      </p:sp>
      <p:sp>
        <p:nvSpPr>
          <p:cNvPr id="12" name="Shape 10"/>
          <p:cNvSpPr/>
          <p:nvPr/>
        </p:nvSpPr>
        <p:spPr>
          <a:xfrm>
            <a:off x="6217920" y="3383280"/>
            <a:ext cx="2651760" cy="1005840"/>
          </a:xfrm>
          <a:prstGeom prst="roundRect">
            <a:avLst>
              <a:gd name="adj" fmla="val 7273"/>
            </a:avLst>
          </a:prstGeom>
          <a:solidFill>
            <a:srgbClr val="1B7F4B"/>
          </a:solidFill>
          <a:ln w="12700">
            <a:solidFill>
              <a:srgbClr val="1B7F4B"/>
            </a:solidFill>
            <a:prstDash val="solid"/>
          </a:ln>
        </p:spPr>
        <p:txBody>
          <a:bodyPr/>
          <a:lstStyle/>
          <a:p>
            <a:endParaRPr lang="en-IN"/>
          </a:p>
        </p:txBody>
      </p:sp>
      <p:sp>
        <p:nvSpPr>
          <p:cNvPr id="13" name="Text 11"/>
          <p:cNvSpPr txBox="1"/>
          <p:nvPr/>
        </p:nvSpPr>
        <p:spPr>
          <a:xfrm>
            <a:off x="6217920" y="3383280"/>
            <a:ext cx="2651760" cy="100584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School</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SHC-R1..3</a:t>
            </a:r>
            <a:endParaRPr lang="en-US" sz="1500" dirty="0"/>
          </a:p>
        </p:txBody>
      </p:sp>
      <p:sp>
        <p:nvSpPr>
          <p:cNvPr id="14" name="Shape 12"/>
          <p:cNvSpPr/>
          <p:nvPr/>
        </p:nvSpPr>
        <p:spPr>
          <a:xfrm>
            <a:off x="9052560" y="3383280"/>
            <a:ext cx="2651760" cy="1005840"/>
          </a:xfrm>
          <a:prstGeom prst="roundRect">
            <a:avLst>
              <a:gd name="adj" fmla="val 7273"/>
            </a:avLst>
          </a:prstGeom>
          <a:solidFill>
            <a:srgbClr val="3FA66B"/>
          </a:solidFill>
          <a:ln w="12700">
            <a:solidFill>
              <a:srgbClr val="3FA66B"/>
            </a:solidFill>
            <a:prstDash val="solid"/>
          </a:ln>
        </p:spPr>
        <p:txBody>
          <a:bodyPr/>
          <a:lstStyle/>
          <a:p>
            <a:endParaRPr lang="en-IN"/>
          </a:p>
        </p:txBody>
      </p:sp>
      <p:sp>
        <p:nvSpPr>
          <p:cNvPr id="15" name="Text 13"/>
          <p:cNvSpPr txBox="1"/>
          <p:nvPr/>
        </p:nvSpPr>
        <p:spPr>
          <a:xfrm>
            <a:off x="9052560" y="3383280"/>
            <a:ext cx="2651760" cy="1005840"/>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College</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COL-R1..3</a:t>
            </a:r>
            <a:endParaRPr lang="en-US" sz="1500" dirty="0"/>
          </a:p>
        </p:txBody>
      </p:sp>
      <p:sp>
        <p:nvSpPr>
          <p:cNvPr id="16" name="Shape 14"/>
          <p:cNvSpPr/>
          <p:nvPr/>
        </p:nvSpPr>
        <p:spPr>
          <a:xfrm>
            <a:off x="1371600" y="4754880"/>
            <a:ext cx="9418320" cy="731520"/>
          </a:xfrm>
          <a:prstGeom prst="roundRect">
            <a:avLst>
              <a:gd name="adj" fmla="val 10000"/>
            </a:avLst>
          </a:prstGeom>
          <a:solidFill>
            <a:srgbClr val="E6F4EA"/>
          </a:solidFill>
          <a:ln w="12700">
            <a:solidFill>
              <a:srgbClr val="E6F4EA"/>
            </a:solidFill>
            <a:prstDash val="solid"/>
          </a:ln>
        </p:spPr>
        <p:txBody>
          <a:bodyPr/>
          <a:lstStyle/>
          <a:p>
            <a:endParaRPr lang="en-IN"/>
          </a:p>
        </p:txBody>
      </p:sp>
      <p:sp>
        <p:nvSpPr>
          <p:cNvPr id="17" name="Text 15"/>
          <p:cNvSpPr txBox="1"/>
          <p:nvPr/>
        </p:nvSpPr>
        <p:spPr>
          <a:xfrm>
            <a:off x="1371600" y="4754880"/>
            <a:ext cx="9418320" cy="731520"/>
          </a:xfrm>
          <a:prstGeom prst="rect">
            <a:avLst/>
          </a:prstGeom>
          <a:noFill/>
          <a:ln/>
        </p:spPr>
        <p:txBody>
          <a:bodyPr wrap="square" lIns="508" tIns="508" rIns="508" bIns="508" rtlCol="0" anchor="ctr"/>
          <a:lstStyle/>
          <a:p>
            <a:pPr marL="0" indent="0" algn="ctr">
              <a:buNone/>
            </a:pPr>
            <a:r>
              <a:rPr lang="en-US" sz="1600" b="1" dirty="0">
                <a:solidFill>
                  <a:srgbClr val="0B3D2E"/>
                </a:solidFill>
                <a:latin typeface="Calibri" pitchFamily="34" charset="0"/>
                <a:ea typeface="Calibri" pitchFamily="34" charset="-122"/>
                <a:cs typeface="Calibri" pitchFamily="34" charset="-120"/>
              </a:rPr>
              <a:t>Each site router: Fa0/0 and Fa0/1 → two switches → PCs, laptops, printers</a:t>
            </a:r>
            <a:endParaRPr lang="en-US" sz="1600" dirty="0"/>
          </a:p>
        </p:txBody>
      </p:sp>
      <p:sp>
        <p:nvSpPr>
          <p:cNvPr id="18" name="Text 16"/>
          <p:cNvSpPr txBox="1"/>
          <p:nvPr/>
        </p:nvSpPr>
        <p:spPr>
          <a:xfrm>
            <a:off x="548640" y="5669280"/>
            <a:ext cx="11064240" cy="457200"/>
          </a:xfrm>
          <a:prstGeom prst="rect">
            <a:avLst/>
          </a:prstGeom>
          <a:noFill/>
          <a:ln/>
        </p:spPr>
        <p:txBody>
          <a:bodyPr wrap="square" lIns="0" tIns="0" rIns="0" bIns="0" rtlCol="0" anchor="ctr"/>
          <a:lstStyle/>
          <a:p>
            <a:pPr marL="0" indent="0" algn="ctr">
              <a:buNone/>
            </a:pPr>
            <a:r>
              <a:rPr lang="en-US" sz="1400" i="1" dirty="0">
                <a:solidFill>
                  <a:srgbClr val="4F6B5C"/>
                </a:solidFill>
                <a:latin typeface="Calibri" pitchFamily="34" charset="0"/>
                <a:ea typeface="Calibri" pitchFamily="34" charset="-122"/>
                <a:cs typeface="Calibri" pitchFamily="34" charset="-120"/>
              </a:rPr>
              <a:t>Tree topology: no redundant router path and no switch-to-switch link.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Topology Verification Issues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2261616"/>
        </p:xfrm>
        <a:graphic>
          <a:graphicData uri="http://schemas.openxmlformats.org/drawingml/2006/table">
            <a:tbl>
              <a:tblPr/>
              <a:tblGrid>
                <a:gridCol w="82296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Handling</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Brief: 16 routers; logical list = 17; .pkt file = 19</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Baseline = 17</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ATM-R1/R2, Switch18–21, Server8/17 only in .pkt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Excluded from baseline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Switches: brief 27, .pkt 31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Baseline = 27</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Servers: only 3 cabled (Main); 13 not cabled</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16 documented, 13 proposed</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V5</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PCs: brief 154, names total 156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156 documented</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V6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COL-PC29 uncabled in .pkt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Assumed on Switch17 Fa0/6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Device Inventory</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2706624"/>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Site</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Routers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Switches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PCs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Laptops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Printers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Servers</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Main</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Core</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Head Office</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48</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Branch Office</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School</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42</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College</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r h="0">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27</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156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500" dirty="0">
                          <a:solidFill>
                            <a:srgbClr val="1F3329"/>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IP Addressing Scheme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2261616"/>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Prefix</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Main</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Server LAN (gateway 100.0.0.1)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 / WAN</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16 serial /30 links (.0–.63)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Head Office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8 LANs (/28)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Branch Office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10.2.0.0/24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 LANs (/28)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School</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10.3.0.0/24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 LANs (/28)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College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10.4.0.0/24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 LANs (/28)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7589520" y="1371600"/>
            <a:ext cx="4023360" cy="4114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/30: first IP = upstream (DCE), second = downstream</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/28: .1 router, .2 switch SVI, hosts from .3</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Hosts: DHCP; printers/servers static</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Router-to-Router Serial Links (/30)</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2584704"/>
        </p:xfrm>
        <a:graphic>
          <a:graphicData uri="http://schemas.openxmlformats.org/drawingml/2006/table">
            <a:tbl>
              <a:tblPr/>
              <a:tblGrid>
                <a:gridCol w="42062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Link (DCE → DTE)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Interfaces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Subnets from 100.1.0.0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Main → Core-R1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S1/0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.0/30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Main → Core-R2 / Core-R3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S1/1, S1/2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.24/30, .28/30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Core-R1 → HO-R1..R4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S1/1..S1/4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.4, .8, .12, .16 /30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Core-R1 → BO-R1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S1/5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.20/30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Core-R2 → BO-R2, BO-R3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S1/1, S1/2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.32, .36 /30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Core-R2 → SHC-R1..R3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S1/3..S1/5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.40, .44, .48 /30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Core-R3 → COL-R1..R3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S1/1..S1/3 → S1/0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.52, .56, .60 /30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5394960"/>
            <a:ext cx="11064240" cy="640080"/>
          </a:xfrm>
          <a:prstGeom prst="rect">
            <a:avLst/>
          </a:prstGeom>
          <a:noFill/>
          <a:ln/>
        </p:spPr>
        <p:txBody>
          <a:bodyPr wrap="square" lIns="0" tIns="0" rIns="0" bIns="0" rtlCol="0" anchor="ctr"/>
          <a:lstStyle/>
          <a:p>
            <a:pPr marL="0" indent="0">
              <a:buNone/>
            </a:pPr>
            <a:r>
              <a:rPr lang="en-US" sz="1400" i="1" dirty="0">
                <a:solidFill>
                  <a:srgbClr val="4F6B5C"/>
                </a:solidFill>
                <a:latin typeface="Calibri" pitchFamily="34" charset="0"/>
                <a:ea typeface="Calibri" pitchFamily="34" charset="-122"/>
                <a:cs typeface="Calibri" pitchFamily="34" charset="-120"/>
              </a:rPr>
              <a:t>16 links in total. Example: Main S1/0 = 100.1.0.1, Core-R1 S1/0 = 100.1.0.2 .</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Router-to-Switch FastEthernet and LAN Subnets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64659526"/>
              </p:ext>
            </p:extLst>
          </p:nvPr>
        </p:nvGraphicFramePr>
        <p:xfrm>
          <a:off x="548640" y="1280160"/>
          <a:ext cx="11064240" cy="1938528"/>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Site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Switches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LAN subnets (/28)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Gateways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Head Office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 1-8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10.1.0.0 – 10.1.0.112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10.1.0.1, .17, .33 … .113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Branch</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 1-6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10.2.0.0 – 10.2.0.80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10.2.0.1, .17 … .81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School</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 1-6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10.3.0.0 – 10.3.0.80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10.3.0.1, .17 … .81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College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 1-6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10.4.0.0 – 10.4.0.80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10.4.0.1, .17 … .81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Main</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Switch 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100.0.0.0/24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4572000"/>
            <a:ext cx="11064240" cy="548640"/>
          </a:xfrm>
          <a:prstGeom prst="rect">
            <a:avLst/>
          </a:prstGeom>
          <a:noFill/>
          <a:ln/>
        </p:spPr>
        <p:txBody>
          <a:bodyPr wrap="square" lIns="0" tIns="0" rIns="0" bIns="0" rtlCol="0" anchor="ctr"/>
          <a:lstStyle/>
          <a:p>
            <a:pPr marL="0" indent="0">
              <a:buNone/>
            </a:pPr>
            <a:r>
              <a:rPr lang="en-US" sz="1500" i="1" dirty="0">
                <a:solidFill>
                  <a:srgbClr val="4F6B5C"/>
                </a:solidFill>
                <a:latin typeface="Calibri" pitchFamily="34" charset="0"/>
                <a:ea typeface="Calibri" pitchFamily="34" charset="-122"/>
                <a:cs typeface="Calibri" pitchFamily="34" charset="-120"/>
              </a:rPr>
              <a:t>Fa0/0 → switch A, Fa0/1 → switch B (uplink on switch Fa0/1). Core routers have no LAN interfaces.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OSPF Design</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15</a:t>
            </a:r>
            <a:endParaRPr lang="en-US" sz="1000" dirty="0"/>
          </a:p>
        </p:txBody>
      </p:sp>
      <p:sp>
        <p:nvSpPr>
          <p:cNvPr id="4" name="Text 2"/>
          <p:cNvSpPr txBox="1"/>
          <p:nvPr/>
        </p:nvSpPr>
        <p:spPr>
          <a:xfrm>
            <a:off x="548640" y="960120"/>
            <a:ext cx="10972800" cy="365760"/>
          </a:xfrm>
          <a:prstGeom prst="rect">
            <a:avLst/>
          </a:prstGeom>
          <a:noFill/>
          <a:ln/>
        </p:spPr>
        <p:txBody>
          <a:bodyPr wrap="square" lIns="0" tIns="0" rIns="0" bIns="0" rtlCol="0" anchor="ctr"/>
          <a:lstStyle/>
          <a:p>
            <a:pPr marL="0" indent="0">
              <a:buNone/>
            </a:pPr>
            <a:r>
              <a:rPr lang="en-US" sz="1500" i="1" dirty="0">
                <a:solidFill>
                  <a:srgbClr val="4F6B5C"/>
                </a:solidFill>
                <a:latin typeface="Calibri" pitchFamily="34" charset="0"/>
                <a:ea typeface="Calibri" pitchFamily="34" charset="-122"/>
                <a:cs typeface="Calibri" pitchFamily="34" charset="-120"/>
              </a:rPr>
              <a:t>IDs: Main 1.1.1.1, Core 2.2.2.x, HO 3.3.3.x, BO 4.4.4.x, SHC 5.5.5.x, COL 6.6.6.x</a:t>
            </a:r>
            <a:endParaRPr lang="en-US" sz="1500" dirty="0"/>
          </a:p>
        </p:txBody>
      </p:sp>
      <p:sp>
        <p:nvSpPr>
          <p:cNvPr id="5" name="Text 3"/>
          <p:cNvSpPr txBox="1"/>
          <p:nvPr/>
        </p:nvSpPr>
        <p:spPr>
          <a:xfrm>
            <a:off x="548640" y="1554480"/>
            <a:ext cx="5120640" cy="4572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Process ID 1, manual router IDs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Area 0: Main LAN + Main–Core links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Area 1: Core-R1 domain; Area 2: Core-R2; Area 3: Core-R3</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ABRs: Core-R1, R2, R3</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Cost 50 on serials; LAN ports passive</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16 adjacencies expected (FULL, point-to-point)</a:t>
            </a:r>
            <a:endParaRPr lang="en-US" sz="1700" dirty="0"/>
          </a:p>
        </p:txBody>
      </p:sp>
      <p:sp>
        <p:nvSpPr>
          <p:cNvPr id="6" name="Shape 4"/>
          <p:cNvSpPr/>
          <p:nvPr/>
        </p:nvSpPr>
        <p:spPr>
          <a:xfrm>
            <a:off x="5943600" y="1554480"/>
            <a:ext cx="5715000" cy="4572000"/>
          </a:xfrm>
          <a:prstGeom prst="roundRect">
            <a:avLst>
              <a:gd name="adj" fmla="val 2000"/>
            </a:avLst>
          </a:prstGeom>
          <a:solidFill>
            <a:srgbClr val="0B2A1F"/>
          </a:solidFill>
          <a:ln w="12700">
            <a:solidFill>
              <a:srgbClr val="0B2A1F"/>
            </a:solidFill>
            <a:prstDash val="solid"/>
          </a:ln>
        </p:spPr>
        <p:txBody>
          <a:bodyPr/>
          <a:lstStyle/>
          <a:p>
            <a:endParaRPr lang="en-IN"/>
          </a:p>
        </p:txBody>
      </p:sp>
      <p:sp>
        <p:nvSpPr>
          <p:cNvPr id="7" name="Text 5"/>
          <p:cNvSpPr txBox="1"/>
          <p:nvPr/>
        </p:nvSpPr>
        <p:spPr>
          <a:xfrm>
            <a:off x="6126480" y="1691640"/>
            <a:ext cx="5349240" cy="4297680"/>
          </a:xfrm>
          <a:prstGeom prst="rect">
            <a:avLst/>
          </a:prstGeom>
          <a:noFill/>
          <a:ln/>
        </p:spPr>
        <p:txBody>
          <a:bodyPr wrap="square" lIns="0" tIns="0" rIns="0" bIns="0" rtlCol="0" anchor="t"/>
          <a:lstStyle/>
          <a:p>
            <a:pPr marL="0" indent="0">
              <a:buNone/>
            </a:pPr>
            <a:r>
              <a:rPr lang="en-US" sz="1200" dirty="0">
                <a:solidFill>
                  <a:srgbClr val="A8F0C4"/>
                </a:solidFill>
                <a:latin typeface="Courier New" pitchFamily="34" charset="0"/>
                <a:ea typeface="Courier New" pitchFamily="34" charset="-122"/>
                <a:cs typeface="Courier New" pitchFamily="34" charset="-120"/>
              </a:rPr>
              <a:t>router ospf 1</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router-id 2.2.2.1      ! CORE-R1</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network 100.1.0.0 0.0.0.3 area 0</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network 100.1.0.4 0.0.0.3 area 1</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passive-interface FastEthernet0/0</a:t>
            </a:r>
            <a:endParaRPr lang="en-US" sz="1200" dirty="0"/>
          </a:p>
          <a:p>
            <a:pPr marL="0" indent="0">
              <a:buNone/>
            </a:pP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interface Serial1/1</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ip ospf cost 50</a:t>
            </a:r>
            <a:endParaRPr lang="en-US" sz="1200" dirty="0"/>
          </a:p>
          <a:p>
            <a:pPr marL="0" indent="0">
              <a:buNone/>
            </a:pP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show ip ospf neighbor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BGP Design</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1938528"/>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Neighbor</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Advertises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CORE-R1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65001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100.1.0.5, .9, .13, .17</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Re-advertises learned routes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65101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100.1.0.5</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10.1.0.0/28, 10.1.0.16/28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65102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100.1.0.9</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10.1.0.32/28, 10.1.0.48/28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65103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100.1.0.13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10.1.0.64/28, 10.1.0.80/28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65104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100.1.0.17</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10.1.0.96/28, 10.1.0.112/28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393192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Different AS per HO router lets Core-R1 pass routes between them</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eBGP (AD 20) beats OSPF (AD 110) for Head Office prefixes</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No redistribution; other sites learn via OSPF</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show ip bgp  |  show ip bgp summary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DHCP</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17</a:t>
            </a:r>
            <a:endParaRPr lang="en-US" sz="1000" dirty="0"/>
          </a:p>
        </p:txBody>
      </p:sp>
      <p:sp>
        <p:nvSpPr>
          <p:cNvPr id="4" name="Shape 2"/>
          <p:cNvSpPr/>
          <p:nvPr/>
        </p:nvSpPr>
        <p:spPr>
          <a:xfrm>
            <a:off x="548640" y="1188720"/>
            <a:ext cx="2491740" cy="731520"/>
          </a:xfrm>
          <a:prstGeom prst="roundRect">
            <a:avLst>
              <a:gd name="adj" fmla="val 10000"/>
            </a:avLst>
          </a:prstGeom>
          <a:solidFill>
            <a:srgbClr val="1B7F4B"/>
          </a:solidFill>
          <a:ln w="12700">
            <a:solidFill>
              <a:srgbClr val="1B7F4B"/>
            </a:solidFill>
            <a:prstDash val="solid"/>
          </a:ln>
        </p:spPr>
        <p:txBody>
          <a:bodyPr/>
          <a:lstStyle/>
          <a:p>
            <a:endParaRPr lang="en-IN"/>
          </a:p>
        </p:txBody>
      </p:sp>
      <p:sp>
        <p:nvSpPr>
          <p:cNvPr id="5" name="Text 3"/>
          <p:cNvSpPr txBox="1"/>
          <p:nvPr/>
        </p:nvSpPr>
        <p:spPr>
          <a:xfrm>
            <a:off x="5486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Discover</a:t>
            </a:r>
            <a:endParaRPr lang="en-US" sz="1300" dirty="0"/>
          </a:p>
        </p:txBody>
      </p:sp>
      <p:sp>
        <p:nvSpPr>
          <p:cNvPr id="6" name="Text 4"/>
          <p:cNvSpPr txBox="1"/>
          <p:nvPr/>
        </p:nvSpPr>
        <p:spPr>
          <a:xfrm>
            <a:off x="30403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7" name="Shape 5"/>
          <p:cNvSpPr/>
          <p:nvPr/>
        </p:nvSpPr>
        <p:spPr>
          <a:xfrm>
            <a:off x="3406140" y="1188720"/>
            <a:ext cx="2491740" cy="731520"/>
          </a:xfrm>
          <a:prstGeom prst="roundRect">
            <a:avLst>
              <a:gd name="adj" fmla="val 10000"/>
            </a:avLst>
          </a:prstGeom>
          <a:solidFill>
            <a:srgbClr val="0B3D2E"/>
          </a:solidFill>
          <a:ln w="12700">
            <a:solidFill>
              <a:srgbClr val="0B3D2E"/>
            </a:solidFill>
            <a:prstDash val="solid"/>
          </a:ln>
        </p:spPr>
        <p:txBody>
          <a:bodyPr/>
          <a:lstStyle/>
          <a:p>
            <a:endParaRPr lang="en-IN"/>
          </a:p>
        </p:txBody>
      </p:sp>
      <p:sp>
        <p:nvSpPr>
          <p:cNvPr id="8" name="Text 6"/>
          <p:cNvSpPr txBox="1"/>
          <p:nvPr/>
        </p:nvSpPr>
        <p:spPr>
          <a:xfrm>
            <a:off x="34061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Offer</a:t>
            </a:r>
            <a:endParaRPr lang="en-US" sz="1300" dirty="0"/>
          </a:p>
        </p:txBody>
      </p:sp>
      <p:sp>
        <p:nvSpPr>
          <p:cNvPr id="9" name="Text 7"/>
          <p:cNvSpPr txBox="1"/>
          <p:nvPr/>
        </p:nvSpPr>
        <p:spPr>
          <a:xfrm>
            <a:off x="58978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10" name="Shape 8"/>
          <p:cNvSpPr/>
          <p:nvPr/>
        </p:nvSpPr>
        <p:spPr>
          <a:xfrm>
            <a:off x="6263640" y="1188720"/>
            <a:ext cx="2491740" cy="731520"/>
          </a:xfrm>
          <a:prstGeom prst="roundRect">
            <a:avLst>
              <a:gd name="adj" fmla="val 10000"/>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62636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Request</a:t>
            </a:r>
            <a:endParaRPr lang="en-US" sz="1300" dirty="0"/>
          </a:p>
        </p:txBody>
      </p:sp>
      <p:sp>
        <p:nvSpPr>
          <p:cNvPr id="12" name="Text 10"/>
          <p:cNvSpPr txBox="1"/>
          <p:nvPr/>
        </p:nvSpPr>
        <p:spPr>
          <a:xfrm>
            <a:off x="87553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13" name="Shape 11"/>
          <p:cNvSpPr/>
          <p:nvPr/>
        </p:nvSpPr>
        <p:spPr>
          <a:xfrm>
            <a:off x="9121140" y="1188720"/>
            <a:ext cx="2491740" cy="731520"/>
          </a:xfrm>
          <a:prstGeom prst="roundRect">
            <a:avLst>
              <a:gd name="adj" fmla="val 10000"/>
            </a:avLst>
          </a:prstGeom>
          <a:solidFill>
            <a:srgbClr val="0B3D2E"/>
          </a:solidFill>
          <a:ln w="12700">
            <a:solidFill>
              <a:srgbClr val="0B3D2E"/>
            </a:solidFill>
            <a:prstDash val="solid"/>
          </a:ln>
        </p:spPr>
        <p:txBody>
          <a:bodyPr/>
          <a:lstStyle/>
          <a:p>
            <a:endParaRPr lang="en-IN"/>
          </a:p>
        </p:txBody>
      </p:sp>
      <p:sp>
        <p:nvSpPr>
          <p:cNvPr id="14" name="Text 12"/>
          <p:cNvSpPr txBox="1"/>
          <p:nvPr/>
        </p:nvSpPr>
        <p:spPr>
          <a:xfrm>
            <a:off x="91211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Acknowledge</a:t>
            </a:r>
            <a:endParaRPr lang="en-US" sz="1300" dirty="0"/>
          </a:p>
        </p:txBody>
      </p:sp>
      <p:sp>
        <p:nvSpPr>
          <p:cNvPr id="15" name="Text 13"/>
          <p:cNvSpPr txBox="1"/>
          <p:nvPr/>
        </p:nvSpPr>
        <p:spPr>
          <a:xfrm>
            <a:off x="548640" y="2377440"/>
            <a:ext cx="5303520" cy="3657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Each site router is the DHCP server</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28 pools: &lt;router&gt;-LAN-A / LAN-B</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Gateway = .1, DNS = 100.0.0.2, lease 7 days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Excluded: router, switch SVI, printers, servers</a:t>
            </a:r>
            <a:endParaRPr lang="en-US" sz="1700" dirty="0"/>
          </a:p>
        </p:txBody>
      </p:sp>
      <p:sp>
        <p:nvSpPr>
          <p:cNvPr id="16" name="Shape 14"/>
          <p:cNvSpPr/>
          <p:nvPr/>
        </p:nvSpPr>
        <p:spPr>
          <a:xfrm>
            <a:off x="6126480" y="2286000"/>
            <a:ext cx="5486400" cy="3566160"/>
          </a:xfrm>
          <a:prstGeom prst="roundRect">
            <a:avLst>
              <a:gd name="adj" fmla="val 2564"/>
            </a:avLst>
          </a:prstGeom>
          <a:solidFill>
            <a:srgbClr val="0B2A1F"/>
          </a:solidFill>
          <a:ln w="12700">
            <a:solidFill>
              <a:srgbClr val="0B2A1F"/>
            </a:solidFill>
            <a:prstDash val="solid"/>
          </a:ln>
        </p:spPr>
        <p:txBody>
          <a:bodyPr/>
          <a:lstStyle/>
          <a:p>
            <a:endParaRPr lang="en-IN"/>
          </a:p>
        </p:txBody>
      </p:sp>
      <p:sp>
        <p:nvSpPr>
          <p:cNvPr id="17" name="Text 15"/>
          <p:cNvSpPr txBox="1"/>
          <p:nvPr/>
        </p:nvSpPr>
        <p:spPr>
          <a:xfrm>
            <a:off x="6309360" y="2423160"/>
            <a:ext cx="5120640" cy="3291840"/>
          </a:xfrm>
          <a:prstGeom prst="rect">
            <a:avLst/>
          </a:prstGeom>
          <a:noFill/>
          <a:ln/>
        </p:spPr>
        <p:txBody>
          <a:bodyPr wrap="square" lIns="0" tIns="0" rIns="0" bIns="0" rtlCol="0" anchor="t"/>
          <a:lstStyle/>
          <a:p>
            <a:pPr marL="0" indent="0">
              <a:buNone/>
            </a:pPr>
            <a:r>
              <a:rPr lang="en-US" sz="1300" dirty="0">
                <a:solidFill>
                  <a:srgbClr val="A8F0C4"/>
                </a:solidFill>
                <a:latin typeface="Courier New" pitchFamily="34" charset="0"/>
                <a:ea typeface="Courier New" pitchFamily="34" charset="-122"/>
                <a:cs typeface="Courier New" pitchFamily="34" charset="-120"/>
              </a:rPr>
              <a:t>ip dhcp excluded-address 10.1.0.1 10.1.0.2</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dhcp excluded-address 10.1.0.11 10.1.0.12</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dhcp pool HO-R1-LAN-A</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network 10.1.0.0 255.255.255.240</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default-router 10.1.0.1</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dns-server 100.0.0.2</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lease 7</a:t>
            </a:r>
            <a:endParaRPr lang="en-US" sz="1300" dirty="0"/>
          </a:p>
          <a:p>
            <a:pPr marL="0" indent="0">
              <a:buNone/>
            </a:pP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show ip dhcp binding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NAT and PAT (Head Office)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18</a:t>
            </a:r>
            <a:endParaRPr lang="en-US" sz="1000" dirty="0"/>
          </a:p>
        </p:txBody>
      </p:sp>
      <p:sp>
        <p:nvSpPr>
          <p:cNvPr id="4" name="Shape 2"/>
          <p:cNvSpPr/>
          <p:nvPr/>
        </p:nvSpPr>
        <p:spPr>
          <a:xfrm>
            <a:off x="548640" y="1188720"/>
            <a:ext cx="6035040" cy="3840480"/>
          </a:xfrm>
          <a:prstGeom prst="roundRect">
            <a:avLst>
              <a:gd name="adj" fmla="val 2381"/>
            </a:avLst>
          </a:prstGeom>
          <a:solidFill>
            <a:srgbClr val="0B2A1F"/>
          </a:solidFill>
          <a:ln w="12700">
            <a:solidFill>
              <a:srgbClr val="0B2A1F"/>
            </a:solidFill>
            <a:prstDash val="solid"/>
          </a:ln>
        </p:spPr>
        <p:txBody>
          <a:bodyPr/>
          <a:lstStyle/>
          <a:p>
            <a:endParaRPr lang="en-IN"/>
          </a:p>
        </p:txBody>
      </p:sp>
      <p:sp>
        <p:nvSpPr>
          <p:cNvPr id="5" name="Text 3"/>
          <p:cNvSpPr txBox="1"/>
          <p:nvPr/>
        </p:nvSpPr>
        <p:spPr>
          <a:xfrm>
            <a:off x="731520" y="1325880"/>
            <a:ext cx="5669280" cy="3566160"/>
          </a:xfrm>
          <a:prstGeom prst="rect">
            <a:avLst/>
          </a:prstGeom>
          <a:noFill/>
          <a:ln/>
        </p:spPr>
        <p:txBody>
          <a:bodyPr wrap="square" lIns="0" tIns="0" rIns="0" bIns="0" rtlCol="0" anchor="t"/>
          <a:lstStyle/>
          <a:p>
            <a:pPr marL="0" indent="0">
              <a:buNone/>
            </a:pPr>
            <a:r>
              <a:rPr lang="en-US" sz="1300" dirty="0">
                <a:solidFill>
                  <a:srgbClr val="A8F0C4"/>
                </a:solidFill>
                <a:latin typeface="Courier New" pitchFamily="34" charset="0"/>
                <a:ea typeface="Courier New" pitchFamily="34" charset="-122"/>
                <a:cs typeface="Courier New" pitchFamily="34" charset="-120"/>
              </a:rPr>
              <a:t>ip access-list extended NAT-TRAFFIC</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permit ip 10.1.0.0 0.0.0.255 100.0.0.0 0.0.0.255</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interface FastEthernet0/0</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nat inside</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interface FastEthernet0/1</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nat inside</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interface Serial1/0</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nat outside</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ip nat inside source list NAT-TRAFFIC</a:t>
            </a:r>
            <a:endParaRPr lang="en-US" sz="1300" dirty="0"/>
          </a:p>
          <a:p>
            <a:pPr marL="0" indent="0">
              <a:buNone/>
            </a:pPr>
            <a:r>
              <a:rPr lang="en-US" sz="1300" dirty="0">
                <a:solidFill>
                  <a:srgbClr val="A8F0C4"/>
                </a:solidFill>
                <a:latin typeface="Courier New" pitchFamily="34" charset="0"/>
                <a:ea typeface="Courier New" pitchFamily="34" charset="-122"/>
                <a:cs typeface="Courier New" pitchFamily="34" charset="-120"/>
              </a:rPr>
              <a:t>  interface Serial1/0 overload</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0" y="1188720"/>
          <a:ext cx="4754880" cy="161544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Outside IP</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HO-R1</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100.1.0.6</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100.1.0.10</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100.1.0.14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HO-R4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100.1.0.18</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6858000" y="3383280"/>
            <a:ext cx="475488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Inside local: real host IP; inside global: router serial IP</a:t>
            </a:r>
            <a:endParaRPr lang="en-US" sz="1500" dirty="0"/>
          </a:p>
          <a:p>
            <a:pPr marL="342900" indent="-342900">
              <a:spcAft>
                <a:spcPts val="800"/>
              </a:spcAft>
              <a:buSzPct val="100000"/>
              <a:buChar char="•"/>
            </a:pPr>
            <a:r>
              <a:rPr lang="en-US" sz="1500" dirty="0">
                <a:solidFill>
                  <a:srgbClr val="1F3329"/>
                </a:solidFill>
                <a:latin typeface="Calibri" pitchFamily="34" charset="0"/>
                <a:ea typeface="Calibri" pitchFamily="34" charset="-122"/>
                <a:cs typeface="Calibri" pitchFamily="34" charset="-120"/>
              </a:rPr>
              <a:t>Only traffic to the server LAN is translated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Access Control Lists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1847088"/>
        </p:xfrm>
        <a:graphic>
          <a:graphicData uri="http://schemas.openxmlformats.org/drawingml/2006/table">
            <a:tbl>
              <a:tblPr/>
              <a:tblGrid>
                <a:gridCol w="17373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ACL</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10 (std)</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VTY, HO/BO/COL</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Own site /24 + 100.0.0.0/24</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SSH from own site and servers</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HO-IN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HO-R1..4 S1/0 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Deny School and College to HO</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Protect Head Office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BO-IN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BO-R1..3 S1/0 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Deny School to Branch</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Isolate untrusted School</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COL-IN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COL-R1..3 S1/0 in</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Deny School to College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Isolate untrusted School</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NAT-TRAFFIC</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Used by NAT</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HO to 100.0.0.0/24</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300" dirty="0">
                          <a:solidFill>
                            <a:srgbClr val="1F3329"/>
                          </a:solidFill>
                          <a:latin typeface="Calibri" pitchFamily="34" charset="0"/>
                          <a:ea typeface="Calibri" pitchFamily="34" charset="-122"/>
                          <a:cs typeface="Calibri" pitchFamily="34" charset="-120"/>
                        </a:rPr>
                        <a:t>Select traffic to translate</a:t>
                      </a:r>
                      <a:endParaRPr lang="en-US" sz="13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5120640"/>
            <a:ext cx="11064240" cy="731520"/>
          </a:xfrm>
          <a:prstGeom prst="rect">
            <a:avLst/>
          </a:prstGeom>
          <a:noFill/>
          <a:ln/>
        </p:spPr>
        <p:txBody>
          <a:bodyPr wrap="square" lIns="0" tIns="0" rIns="0" bIns="0" rtlCol="0" anchor="ctr"/>
          <a:lstStyle/>
          <a:p>
            <a:pPr marL="0" indent="0">
              <a:buNone/>
            </a:pPr>
            <a:r>
              <a:rPr lang="en-US" sz="1400" i="1" dirty="0">
                <a:solidFill>
                  <a:srgbClr val="4F6B5C"/>
                </a:solidFill>
                <a:latin typeface="Calibri" pitchFamily="34" charset="0"/>
                <a:ea typeface="Calibri" pitchFamily="34" charset="-122"/>
                <a:cs typeface="Calibri" pitchFamily="34" charset="-120"/>
              </a:rPr>
              <a:t>Each ends with permit ip any any (except the VTY list). OSPF, BGP and SSH use 100.x addresses and are permitted.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SSH Secure Management</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20</a:t>
            </a:r>
            <a:endParaRPr lang="en-US" sz="1000" dirty="0"/>
          </a:p>
        </p:txBody>
      </p:sp>
      <p:sp>
        <p:nvSpPr>
          <p:cNvPr id="4" name="Text 2"/>
          <p:cNvSpPr txBox="1"/>
          <p:nvPr/>
        </p:nvSpPr>
        <p:spPr>
          <a:xfrm>
            <a:off x="548640" y="1554480"/>
            <a:ext cx="5120640" cy="4572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All 17 routers and 27 switches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Hostname + domain project.local</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RSA 1024-bit key, SSH version 2</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VTY: SSH only, local login</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VTY ACL 10 restricts source networks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Telnet refused</a:t>
            </a:r>
            <a:endParaRPr lang="en-US" sz="1700" dirty="0"/>
          </a:p>
        </p:txBody>
      </p:sp>
      <p:sp>
        <p:nvSpPr>
          <p:cNvPr id="5" name="Shape 3"/>
          <p:cNvSpPr/>
          <p:nvPr/>
        </p:nvSpPr>
        <p:spPr>
          <a:xfrm>
            <a:off x="5943600" y="1554480"/>
            <a:ext cx="5715000" cy="4572000"/>
          </a:xfrm>
          <a:prstGeom prst="roundRect">
            <a:avLst>
              <a:gd name="adj" fmla="val 2000"/>
            </a:avLst>
          </a:prstGeom>
          <a:solidFill>
            <a:srgbClr val="0B2A1F"/>
          </a:solidFill>
          <a:ln w="12700">
            <a:solidFill>
              <a:srgbClr val="0B2A1F"/>
            </a:solidFill>
            <a:prstDash val="solid"/>
          </a:ln>
        </p:spPr>
        <p:txBody>
          <a:bodyPr/>
          <a:lstStyle/>
          <a:p>
            <a:endParaRPr lang="en-IN"/>
          </a:p>
        </p:txBody>
      </p:sp>
      <p:sp>
        <p:nvSpPr>
          <p:cNvPr id="6" name="Text 4"/>
          <p:cNvSpPr txBox="1"/>
          <p:nvPr/>
        </p:nvSpPr>
        <p:spPr>
          <a:xfrm>
            <a:off x="6126480" y="1691640"/>
            <a:ext cx="5349240" cy="4297680"/>
          </a:xfrm>
          <a:prstGeom prst="rect">
            <a:avLst/>
          </a:prstGeom>
          <a:noFill/>
          <a:ln/>
        </p:spPr>
        <p:txBody>
          <a:bodyPr wrap="square" lIns="0" tIns="0" rIns="0" bIns="0" rtlCol="0" anchor="t"/>
          <a:lstStyle/>
          <a:p>
            <a:pPr marL="0" indent="0">
              <a:buNone/>
            </a:pPr>
            <a:r>
              <a:rPr lang="en-US" sz="1200" dirty="0">
                <a:solidFill>
                  <a:srgbClr val="A8F0C4"/>
                </a:solidFill>
                <a:latin typeface="Courier New" pitchFamily="34" charset="0"/>
                <a:ea typeface="Courier New" pitchFamily="34" charset="-122"/>
                <a:cs typeface="Courier New" pitchFamily="34" charset="-120"/>
              </a:rPr>
              <a:t>hostname HO-R1</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ip domain-name project.local</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username admin privilege 15 secret &lt;password&gt;</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crypto key generate rsa general-keys modulus 1024</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ip ssh version 2</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line vty 0 4</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transport input ssh</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login local</a:t>
            </a: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access-class 10 in</a:t>
            </a:r>
            <a:endParaRPr lang="en-US" sz="1200" dirty="0"/>
          </a:p>
          <a:p>
            <a:pPr marL="0" indent="0">
              <a:buNone/>
            </a:pPr>
            <a:endParaRPr lang="en-US" sz="1200" dirty="0"/>
          </a:p>
          <a:p>
            <a:pPr marL="0" indent="0">
              <a:buNone/>
            </a:pPr>
            <a:r>
              <a:rPr lang="en-US" sz="1200" dirty="0">
                <a:solidFill>
                  <a:srgbClr val="A8F0C4"/>
                </a:solidFill>
                <a:latin typeface="Courier New" pitchFamily="34" charset="0"/>
                <a:ea typeface="Courier New" pitchFamily="34" charset="-122"/>
                <a:cs typeface="Courier New" pitchFamily="34" charset="-120"/>
              </a:rPr>
              <a:t>show ip ssh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DNS, HTTP and HTTPS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21</a:t>
            </a:r>
            <a:endParaRPr lang="en-US" sz="1000" dirty="0"/>
          </a:p>
        </p:txBody>
      </p:sp>
      <p:sp>
        <p:nvSpPr>
          <p:cNvPr id="4" name="Shape 2"/>
          <p:cNvSpPr/>
          <p:nvPr/>
        </p:nvSpPr>
        <p:spPr>
          <a:xfrm>
            <a:off x="548640" y="1188720"/>
            <a:ext cx="2491740" cy="731520"/>
          </a:xfrm>
          <a:prstGeom prst="roundRect">
            <a:avLst>
              <a:gd name="adj" fmla="val 10000"/>
            </a:avLst>
          </a:prstGeom>
          <a:solidFill>
            <a:srgbClr val="1B7F4B"/>
          </a:solidFill>
          <a:ln w="12700">
            <a:solidFill>
              <a:srgbClr val="1B7F4B"/>
            </a:solidFill>
            <a:prstDash val="solid"/>
          </a:ln>
        </p:spPr>
        <p:txBody>
          <a:bodyPr/>
          <a:lstStyle/>
          <a:p>
            <a:endParaRPr lang="en-IN"/>
          </a:p>
        </p:txBody>
      </p:sp>
      <p:sp>
        <p:nvSpPr>
          <p:cNvPr id="5" name="Text 3"/>
          <p:cNvSpPr txBox="1"/>
          <p:nvPr/>
        </p:nvSpPr>
        <p:spPr>
          <a:xfrm>
            <a:off x="5486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6" name="Text 4"/>
          <p:cNvSpPr txBox="1"/>
          <p:nvPr/>
        </p:nvSpPr>
        <p:spPr>
          <a:xfrm>
            <a:off x="30403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7" name="Shape 5"/>
          <p:cNvSpPr/>
          <p:nvPr/>
        </p:nvSpPr>
        <p:spPr>
          <a:xfrm>
            <a:off x="3406140" y="1188720"/>
            <a:ext cx="2491740" cy="731520"/>
          </a:xfrm>
          <a:prstGeom prst="roundRect">
            <a:avLst>
              <a:gd name="adj" fmla="val 10000"/>
            </a:avLst>
          </a:prstGeom>
          <a:solidFill>
            <a:srgbClr val="0B3D2E"/>
          </a:solidFill>
          <a:ln w="12700">
            <a:solidFill>
              <a:srgbClr val="0B3D2E"/>
            </a:solidFill>
            <a:prstDash val="solid"/>
          </a:ln>
        </p:spPr>
        <p:txBody>
          <a:bodyPr/>
          <a:lstStyle/>
          <a:p>
            <a:endParaRPr lang="en-IN"/>
          </a:p>
        </p:txBody>
      </p:sp>
      <p:sp>
        <p:nvSpPr>
          <p:cNvPr id="8" name="Text 6"/>
          <p:cNvSpPr txBox="1"/>
          <p:nvPr/>
        </p:nvSpPr>
        <p:spPr>
          <a:xfrm>
            <a:off x="34061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DNS 100.0.0.2</a:t>
            </a:r>
            <a:endParaRPr lang="en-US" sz="1300" dirty="0"/>
          </a:p>
        </p:txBody>
      </p:sp>
      <p:sp>
        <p:nvSpPr>
          <p:cNvPr id="9" name="Text 7"/>
          <p:cNvSpPr txBox="1"/>
          <p:nvPr/>
        </p:nvSpPr>
        <p:spPr>
          <a:xfrm>
            <a:off x="58978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10" name="Shape 8"/>
          <p:cNvSpPr/>
          <p:nvPr/>
        </p:nvSpPr>
        <p:spPr>
          <a:xfrm>
            <a:off x="6263640" y="1188720"/>
            <a:ext cx="2491740" cy="731520"/>
          </a:xfrm>
          <a:prstGeom prst="roundRect">
            <a:avLst>
              <a:gd name="adj" fmla="val 10000"/>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62636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IP address</a:t>
            </a:r>
            <a:endParaRPr lang="en-US" sz="1300" dirty="0"/>
          </a:p>
        </p:txBody>
      </p:sp>
      <p:sp>
        <p:nvSpPr>
          <p:cNvPr id="12" name="Text 10"/>
          <p:cNvSpPr txBox="1"/>
          <p:nvPr/>
        </p:nvSpPr>
        <p:spPr>
          <a:xfrm>
            <a:off x="8755380" y="1188720"/>
            <a:ext cx="365760" cy="731520"/>
          </a:xfrm>
          <a:prstGeom prst="rect">
            <a:avLst/>
          </a:prstGeom>
          <a:noFill/>
          <a:ln/>
        </p:spPr>
        <p:txBody>
          <a:bodyPr wrap="square" lIns="0" tIns="0" rIns="0" bIns="0" rtlCol="0" anchor="ctr"/>
          <a:lstStyle/>
          <a:p>
            <a:pPr marL="0" indent="0" algn="ctr">
              <a:buNone/>
            </a:pPr>
            <a:r>
              <a:rPr lang="en-US" sz="1200" dirty="0">
                <a:solidFill>
                  <a:srgbClr val="3FA66B"/>
                </a:solidFill>
              </a:rPr>
              <a:t>►</a:t>
            </a:r>
            <a:endParaRPr lang="en-US" sz="1200" dirty="0"/>
          </a:p>
        </p:txBody>
      </p:sp>
      <p:sp>
        <p:nvSpPr>
          <p:cNvPr id="13" name="Shape 11"/>
          <p:cNvSpPr/>
          <p:nvPr/>
        </p:nvSpPr>
        <p:spPr>
          <a:xfrm>
            <a:off x="9121140" y="1188720"/>
            <a:ext cx="2491740" cy="731520"/>
          </a:xfrm>
          <a:prstGeom prst="roundRect">
            <a:avLst>
              <a:gd name="adj" fmla="val 10000"/>
            </a:avLst>
          </a:prstGeom>
          <a:solidFill>
            <a:srgbClr val="0B3D2E"/>
          </a:solidFill>
          <a:ln w="12700">
            <a:solidFill>
              <a:srgbClr val="0B3D2E"/>
            </a:solidFill>
            <a:prstDash val="solid"/>
          </a:ln>
        </p:spPr>
        <p:txBody>
          <a:bodyPr/>
          <a:lstStyle/>
          <a:p>
            <a:endParaRPr lang="en-IN"/>
          </a:p>
        </p:txBody>
      </p:sp>
      <p:sp>
        <p:nvSpPr>
          <p:cNvPr id="14" name="Text 12"/>
          <p:cNvSpPr txBox="1"/>
          <p:nvPr/>
        </p:nvSpPr>
        <p:spPr>
          <a:xfrm>
            <a:off x="9121140" y="1188720"/>
            <a:ext cx="2491740" cy="731520"/>
          </a:xfrm>
          <a:prstGeom prst="rect">
            <a:avLst/>
          </a:prstGeom>
          <a:no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Web server 100.0.0.3</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5852160" cy="1292352"/>
        </p:xfrm>
        <a:graphic>
          <a:graphicData uri="http://schemas.openxmlformats.org/drawingml/2006/table">
            <a:tbl>
              <a:tblPr/>
              <a:tblGrid>
                <a:gridCol w="35661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Address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dns.project.local</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100.0.0.2</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www / school / college .project.local</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100.0.0.3</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backup.project.local</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buNone/>
                      </a:pPr>
                      <a:r>
                        <a:rPr lang="en-US" sz="1400" dirty="0">
                          <a:solidFill>
                            <a:srgbClr val="1F3329"/>
                          </a:solidFill>
                          <a:latin typeface="Calibri" pitchFamily="34" charset="0"/>
                          <a:ea typeface="Calibri" pitchFamily="34" charset="-122"/>
                          <a:cs typeface="Calibri" pitchFamily="34" charset="-120"/>
                        </a:rPr>
                        <a:t>100.0.0.4</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3"/>
          <p:cNvSpPr txBox="1"/>
          <p:nvPr/>
        </p:nvSpPr>
        <p:spPr>
          <a:xfrm>
            <a:off x="6675120" y="2377440"/>
            <a:ext cx="493776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Domain: project.local</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DHCP gives clients the DNS server</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HTTP (port 80) clear text; HTTPS (443) encrypted</a:t>
            </a:r>
            <a:endParaRPr lang="en-US" sz="1600" dirty="0"/>
          </a:p>
          <a:p>
            <a:pPr marL="342900" indent="-342900">
              <a:spcAft>
                <a:spcPts val="800"/>
              </a:spcAft>
              <a:buSzPct val="100000"/>
              <a:buChar char="•"/>
            </a:pPr>
            <a:r>
              <a:rPr lang="en-US" sz="1600" dirty="0">
                <a:solidFill>
                  <a:srgbClr val="1F3329"/>
                </a:solidFill>
                <a:latin typeface="Calibri" pitchFamily="34" charset="0"/>
                <a:ea typeface="Calibri" pitchFamily="34" charset="-122"/>
                <a:cs typeface="Calibri" pitchFamily="34" charset="-120"/>
              </a:rPr>
              <a:t>Test: nslookup www.project.local, then http:// and https://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Security Architecture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22</a:t>
            </a:r>
            <a:endParaRPr lang="en-US" sz="1000" dirty="0"/>
          </a:p>
        </p:txBody>
      </p:sp>
      <p:sp>
        <p:nvSpPr>
          <p:cNvPr id="4" name="Shape 2"/>
          <p:cNvSpPr/>
          <p:nvPr/>
        </p:nvSpPr>
        <p:spPr>
          <a:xfrm>
            <a:off x="548640" y="1280160"/>
            <a:ext cx="3505200" cy="1097280"/>
          </a:xfrm>
          <a:prstGeom prst="roundRect">
            <a:avLst>
              <a:gd name="adj" fmla="val 6667"/>
            </a:avLst>
          </a:prstGeom>
          <a:solidFill>
            <a:srgbClr val="0B3D2E"/>
          </a:solidFill>
          <a:ln w="12700">
            <a:solidFill>
              <a:srgbClr val="0B3D2E"/>
            </a:solidFill>
            <a:prstDash val="solid"/>
          </a:ln>
        </p:spPr>
        <p:txBody>
          <a:bodyPr/>
          <a:lstStyle/>
          <a:p>
            <a:endParaRPr lang="en-IN"/>
          </a:p>
        </p:txBody>
      </p:sp>
      <p:sp>
        <p:nvSpPr>
          <p:cNvPr id="5" name="Text 3"/>
          <p:cNvSpPr txBox="1"/>
          <p:nvPr/>
        </p:nvSpPr>
        <p:spPr>
          <a:xfrm>
            <a:off x="548640" y="12801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ACL</a:t>
            </a:r>
            <a:endParaRPr lang="en-US" sz="2000" dirty="0"/>
          </a:p>
        </p:txBody>
      </p:sp>
      <p:sp>
        <p:nvSpPr>
          <p:cNvPr id="6" name="Shape 4"/>
          <p:cNvSpPr/>
          <p:nvPr/>
        </p:nvSpPr>
        <p:spPr>
          <a:xfrm>
            <a:off x="4328160" y="1280160"/>
            <a:ext cx="3505200" cy="1097280"/>
          </a:xfrm>
          <a:prstGeom prst="roundRect">
            <a:avLst>
              <a:gd name="adj" fmla="val 6667"/>
            </a:avLst>
          </a:prstGeom>
          <a:solidFill>
            <a:srgbClr val="1B7F4B"/>
          </a:solidFill>
          <a:ln w="12700">
            <a:solidFill>
              <a:srgbClr val="1B7F4B"/>
            </a:solidFill>
            <a:prstDash val="solid"/>
          </a:ln>
        </p:spPr>
        <p:txBody>
          <a:bodyPr/>
          <a:lstStyle/>
          <a:p>
            <a:endParaRPr lang="en-IN"/>
          </a:p>
        </p:txBody>
      </p:sp>
      <p:sp>
        <p:nvSpPr>
          <p:cNvPr id="7" name="Text 5"/>
          <p:cNvSpPr txBox="1"/>
          <p:nvPr/>
        </p:nvSpPr>
        <p:spPr>
          <a:xfrm>
            <a:off x="4328160" y="12801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SSH v2</a:t>
            </a:r>
            <a:endParaRPr lang="en-US" sz="2000" dirty="0"/>
          </a:p>
        </p:txBody>
      </p:sp>
      <p:sp>
        <p:nvSpPr>
          <p:cNvPr id="8" name="Shape 6"/>
          <p:cNvSpPr/>
          <p:nvPr/>
        </p:nvSpPr>
        <p:spPr>
          <a:xfrm>
            <a:off x="8107680" y="1280160"/>
            <a:ext cx="3505200" cy="1097280"/>
          </a:xfrm>
          <a:prstGeom prst="roundRect">
            <a:avLst>
              <a:gd name="adj" fmla="val 6667"/>
            </a:avLst>
          </a:prstGeom>
          <a:solidFill>
            <a:srgbClr val="0B3D2E"/>
          </a:solidFill>
          <a:ln w="12700">
            <a:solidFill>
              <a:srgbClr val="0B3D2E"/>
            </a:solidFill>
            <a:prstDash val="solid"/>
          </a:ln>
        </p:spPr>
        <p:txBody>
          <a:bodyPr/>
          <a:lstStyle/>
          <a:p>
            <a:endParaRPr lang="en-IN"/>
          </a:p>
        </p:txBody>
      </p:sp>
      <p:sp>
        <p:nvSpPr>
          <p:cNvPr id="9" name="Text 7"/>
          <p:cNvSpPr txBox="1"/>
          <p:nvPr/>
        </p:nvSpPr>
        <p:spPr>
          <a:xfrm>
            <a:off x="8107680" y="12801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HTTPS</a:t>
            </a:r>
            <a:endParaRPr lang="en-US" sz="2000" dirty="0"/>
          </a:p>
        </p:txBody>
      </p:sp>
      <p:sp>
        <p:nvSpPr>
          <p:cNvPr id="10" name="Shape 8"/>
          <p:cNvSpPr/>
          <p:nvPr/>
        </p:nvSpPr>
        <p:spPr>
          <a:xfrm>
            <a:off x="548640" y="2651760"/>
            <a:ext cx="3505200" cy="1097280"/>
          </a:xfrm>
          <a:prstGeom prst="roundRect">
            <a:avLst>
              <a:gd name="adj" fmla="val 6667"/>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548640" y="26517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NAT / PAT</a:t>
            </a:r>
            <a:endParaRPr lang="en-US" sz="2000" dirty="0"/>
          </a:p>
        </p:txBody>
      </p:sp>
      <p:sp>
        <p:nvSpPr>
          <p:cNvPr id="12" name="Shape 10"/>
          <p:cNvSpPr/>
          <p:nvPr/>
        </p:nvSpPr>
        <p:spPr>
          <a:xfrm>
            <a:off x="4328160" y="2651760"/>
            <a:ext cx="3505200" cy="1097280"/>
          </a:xfrm>
          <a:prstGeom prst="roundRect">
            <a:avLst>
              <a:gd name="adj" fmla="val 6667"/>
            </a:avLst>
          </a:prstGeom>
          <a:solidFill>
            <a:srgbClr val="0B3D2E"/>
          </a:solidFill>
          <a:ln w="12700">
            <a:solidFill>
              <a:srgbClr val="0B3D2E"/>
            </a:solidFill>
            <a:prstDash val="solid"/>
          </a:ln>
        </p:spPr>
        <p:txBody>
          <a:bodyPr/>
          <a:lstStyle/>
          <a:p>
            <a:endParaRPr lang="en-IN"/>
          </a:p>
        </p:txBody>
      </p:sp>
      <p:sp>
        <p:nvSpPr>
          <p:cNvPr id="13" name="Text 11"/>
          <p:cNvSpPr txBox="1"/>
          <p:nvPr/>
        </p:nvSpPr>
        <p:spPr>
          <a:xfrm>
            <a:off x="4328160" y="26517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STP</a:t>
            </a:r>
            <a:endParaRPr lang="en-US" sz="2000" dirty="0"/>
          </a:p>
        </p:txBody>
      </p:sp>
      <p:sp>
        <p:nvSpPr>
          <p:cNvPr id="14" name="Shape 12"/>
          <p:cNvSpPr/>
          <p:nvPr/>
        </p:nvSpPr>
        <p:spPr>
          <a:xfrm>
            <a:off x="8107680" y="2651760"/>
            <a:ext cx="3505200" cy="1097280"/>
          </a:xfrm>
          <a:prstGeom prst="roundRect">
            <a:avLst>
              <a:gd name="adj" fmla="val 6667"/>
            </a:avLst>
          </a:prstGeom>
          <a:solidFill>
            <a:srgbClr val="1B7F4B"/>
          </a:solidFill>
          <a:ln w="12700">
            <a:solidFill>
              <a:srgbClr val="1B7F4B"/>
            </a:solidFill>
            <a:prstDash val="solid"/>
          </a:ln>
        </p:spPr>
        <p:txBody>
          <a:bodyPr/>
          <a:lstStyle/>
          <a:p>
            <a:endParaRPr lang="en-IN"/>
          </a:p>
        </p:txBody>
      </p:sp>
      <p:sp>
        <p:nvSpPr>
          <p:cNvPr id="15" name="Text 13"/>
          <p:cNvSpPr txBox="1"/>
          <p:nvPr/>
        </p:nvSpPr>
        <p:spPr>
          <a:xfrm>
            <a:off x="8107680" y="2651760"/>
            <a:ext cx="3505200" cy="1097280"/>
          </a:xfrm>
          <a:prstGeom prst="rect">
            <a:avLst/>
          </a:prstGeom>
          <a:noFill/>
          <a:ln/>
        </p:spPr>
        <p:txBody>
          <a:bodyPr wrap="square" lIns="508" tIns="508" rIns="508" bIns="508"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Secret passwords</a:t>
            </a:r>
            <a:endParaRPr lang="en-US" sz="2000" dirty="0"/>
          </a:p>
        </p:txBody>
      </p:sp>
      <p:sp>
        <p:nvSpPr>
          <p:cNvPr id="16" name="Text 14"/>
          <p:cNvSpPr txBox="1"/>
          <p:nvPr/>
        </p:nvSpPr>
        <p:spPr>
          <a:xfrm>
            <a:off x="548640" y="438912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Layered: Layer 2 (STP), Layer 3 (ACL, NAT), management (SSH, banners, VTY), application (HTTPS)</a:t>
            </a:r>
            <a:endParaRPr lang="en-US" sz="1700" dirty="0"/>
          </a:p>
          <a:p>
            <a:pPr marL="342900" indent="-342900">
              <a:spcAft>
                <a:spcPts val="800"/>
              </a:spcAft>
              <a:buSzPct val="100000"/>
              <a:buChar char="•"/>
            </a:pPr>
            <a:r>
              <a:rPr lang="en-US" sz="1700" dirty="0">
                <a:solidFill>
                  <a:srgbClr val="1F3329"/>
                </a:solidFill>
                <a:latin typeface="Calibri" pitchFamily="34" charset="0"/>
                <a:ea typeface="Calibri" pitchFamily="34" charset="-122"/>
                <a:cs typeface="Calibri" pitchFamily="34" charset="-120"/>
              </a:rPr>
              <a:t>Lab passwords and RSA 1024 are not production-grade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Testing and Verification</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3051096692"/>
              </p:ext>
            </p:extLst>
          </p:nvPr>
        </p:nvGraphicFramePr>
        <p:xfrm>
          <a:off x="548640" y="1280160"/>
          <a:ext cx="11064240" cy="2261616"/>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Commands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Basics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show ip interface brief, show ip route, ping, traceroute</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OSPF</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show ip ospf neighbor, show ip protocols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BGP</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show ip bgp, show ip bgp summary</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NAT / DHCP</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show ip nat translations, show ip dhcp binding</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ACL / SSH</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show access-lists, show ip ssh</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DNS / Web</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indent="0" algn="ctr">
                        <a:buNone/>
                      </a:pPr>
                      <a:r>
                        <a:rPr lang="en-US" sz="1400" dirty="0">
                          <a:solidFill>
                            <a:srgbClr val="1F3329"/>
                          </a:solidFill>
                          <a:latin typeface="Calibri" pitchFamily="34" charset="0"/>
                          <a:ea typeface="Calibri" pitchFamily="34" charset="-122"/>
                          <a:cs typeface="Calibri" pitchFamily="34" charset="-120"/>
                        </a:rPr>
                        <a:t>nslookup www.project.local, browser http/https</a:t>
                      </a:r>
                      <a:endParaRPr lang="en-US" sz="1400" dirty="0">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3329"/>
                          </a:solidFill>
                          <a:effectLst/>
                          <a:uLnTx/>
                          <a:uFillTx/>
                          <a:latin typeface="Calibri" pitchFamily="34" charset="0"/>
                          <a:ea typeface="Calibri" pitchFamily="34" charset="-122"/>
                          <a:cs typeface="Calibri" pitchFamily="34" charset="-120"/>
                        </a:rPr>
                        <a:t>Verified</a:t>
                      </a:r>
                      <a:endParaRPr kumimoji="0" lang="en-US" sz="14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marL="54864" marR="54864" marT="54864" marB="54864" anchor="ctr">
                    <a:lnL w="6350" cap="flat" cmpd="sng" algn="ctr">
                      <a:solidFill>
                        <a:srgbClr val="C6DFCF"/>
                      </a:solidFill>
                      <a:prstDash val="solid"/>
                      <a:round/>
                      <a:headEnd type="none" w="med" len="med"/>
                      <a:tailEnd type="none" w="med" len="med"/>
                    </a:lnL>
                    <a:lnR w="6350" cap="flat" cmpd="sng" algn="ctr">
                      <a:solidFill>
                        <a:srgbClr val="C6DFCF"/>
                      </a:solidFill>
                      <a:prstDash val="solid"/>
                      <a:round/>
                      <a:headEnd type="none" w="med" len="med"/>
                      <a:tailEnd type="none" w="med" len="med"/>
                    </a:lnR>
                    <a:lnT w="6350" cap="flat" cmpd="sng" algn="ctr">
                      <a:solidFill>
                        <a:srgbClr val="C6DFCF"/>
                      </a:solidFill>
                      <a:prstDash val="solid"/>
                      <a:round/>
                      <a:headEnd type="none" w="med" len="med"/>
                      <a:tailEnd type="none" w="med" len="med"/>
                    </a:lnT>
                    <a:lnB w="6350" cap="flat" cmpd="sng" algn="ctr">
                      <a:solidFill>
                        <a:srgbClr val="C6DFCF"/>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120640"/>
            <a:ext cx="11064240" cy="640080"/>
          </a:xfrm>
          <a:prstGeom prst="rect">
            <a:avLst/>
          </a:prstGeom>
          <a:noFill/>
          <a:ln/>
        </p:spPr>
        <p:txBody>
          <a:bodyPr wrap="square" lIns="0" tIns="0" rIns="0" bIns="0" rtlCol="0" anchor="ctr"/>
          <a:lstStyle/>
          <a:p>
            <a:pPr marL="0" indent="0">
              <a:buNone/>
            </a:pPr>
            <a:r>
              <a:rPr lang="en-US" sz="1400" i="1" dirty="0">
                <a:solidFill>
                  <a:srgbClr val="4F6B5C"/>
                </a:solidFill>
                <a:latin typeface="Calibri" pitchFamily="34" charset="0"/>
                <a:ea typeface="Calibri" pitchFamily="34" charset="-122"/>
                <a:cs typeface="Calibri" pitchFamily="34" charset="-120"/>
              </a:rPr>
              <a:t>The report states actual results stay "To be verified" until the configuration is run in Packet Tracer.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Advantages and Limitations</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24</a:t>
            </a:r>
            <a:endParaRPr lang="en-US" sz="1000" dirty="0"/>
          </a:p>
        </p:txBody>
      </p:sp>
      <p:sp>
        <p:nvSpPr>
          <p:cNvPr id="4" name="Shape 2"/>
          <p:cNvSpPr/>
          <p:nvPr/>
        </p:nvSpPr>
        <p:spPr>
          <a:xfrm>
            <a:off x="548640" y="1280160"/>
            <a:ext cx="5394960" cy="4572000"/>
          </a:xfrm>
          <a:prstGeom prst="roundRect">
            <a:avLst>
              <a:gd name="adj" fmla="val 2000"/>
            </a:avLst>
          </a:prstGeom>
          <a:solidFill>
            <a:srgbClr val="E6F4EA"/>
          </a:solidFill>
          <a:ln w="12700">
            <a:solidFill>
              <a:srgbClr val="E6F4EA"/>
            </a:solidFill>
            <a:prstDash val="solid"/>
          </a:ln>
        </p:spPr>
        <p:txBody>
          <a:bodyPr/>
          <a:lstStyle/>
          <a:p>
            <a:endParaRPr lang="en-IN"/>
          </a:p>
        </p:txBody>
      </p:sp>
      <p:sp>
        <p:nvSpPr>
          <p:cNvPr id="5" name="Text 3"/>
          <p:cNvSpPr txBox="1"/>
          <p:nvPr/>
        </p:nvSpPr>
        <p:spPr>
          <a:xfrm>
            <a:off x="731520" y="1389888"/>
            <a:ext cx="5029200" cy="41148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Advantages</a:t>
            </a:r>
            <a:endParaRPr lang="en-US" sz="1700" dirty="0"/>
          </a:p>
        </p:txBody>
      </p:sp>
      <p:sp>
        <p:nvSpPr>
          <p:cNvPr id="6" name="Text 4"/>
          <p:cNvSpPr txBox="1"/>
          <p:nvPr/>
        </p:nvSpPr>
        <p:spPr>
          <a:xfrm>
            <a:off x="731520" y="1828800"/>
            <a:ext cx="5029200" cy="3931920"/>
          </a:xfrm>
          <a:prstGeom prst="rect">
            <a:avLst/>
          </a:prstGeom>
          <a:noFill/>
          <a:ln/>
        </p:spPr>
        <p:txBody>
          <a:bodyPr wrap="square" lIns="0" tIns="0" rIns="0" bIns="0" rtlCol="0" anchor="t"/>
          <a:lstStyle/>
          <a:p>
            <a:pPr marL="0" indent="0">
              <a:buNone/>
            </a:pPr>
            <a:r>
              <a:rPr lang="en-US" sz="1400" dirty="0">
                <a:solidFill>
                  <a:srgbClr val="1F3329"/>
                </a:solidFill>
                <a:latin typeface="Calibri" pitchFamily="34" charset="0"/>
                <a:ea typeface="Calibri" pitchFamily="34" charset="-122"/>
                <a:cs typeface="Calibri" pitchFamily="34" charset="-120"/>
              </a:rPr>
              <a:t>Easy to extend hierarchy</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Multi-area OSPF keeps updates local</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VLSM wastes no space</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Central DNS/web; router DHCP</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Layered security</a:t>
            </a:r>
            <a:endParaRPr lang="en-US" sz="1400" dirty="0"/>
          </a:p>
        </p:txBody>
      </p:sp>
      <p:sp>
        <p:nvSpPr>
          <p:cNvPr id="7" name="Shape 5"/>
          <p:cNvSpPr/>
          <p:nvPr/>
        </p:nvSpPr>
        <p:spPr>
          <a:xfrm>
            <a:off x="6217920" y="1280160"/>
            <a:ext cx="5394960" cy="4572000"/>
          </a:xfrm>
          <a:prstGeom prst="roundRect">
            <a:avLst>
              <a:gd name="adj" fmla="val 2000"/>
            </a:avLst>
          </a:prstGeom>
          <a:solidFill>
            <a:srgbClr val="E6F4EA"/>
          </a:solidFill>
          <a:ln w="12700">
            <a:solidFill>
              <a:srgbClr val="E6F4EA"/>
            </a:solidFill>
            <a:prstDash val="solid"/>
          </a:ln>
        </p:spPr>
        <p:txBody>
          <a:bodyPr/>
          <a:lstStyle/>
          <a:p>
            <a:endParaRPr lang="en-IN"/>
          </a:p>
        </p:txBody>
      </p:sp>
      <p:sp>
        <p:nvSpPr>
          <p:cNvPr id="8" name="Text 6"/>
          <p:cNvSpPr txBox="1"/>
          <p:nvPr/>
        </p:nvSpPr>
        <p:spPr>
          <a:xfrm>
            <a:off x="6400800" y="1389888"/>
            <a:ext cx="5029200" cy="41148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Limitations</a:t>
            </a:r>
            <a:endParaRPr lang="en-US" sz="1700" dirty="0"/>
          </a:p>
        </p:txBody>
      </p:sp>
      <p:sp>
        <p:nvSpPr>
          <p:cNvPr id="9" name="Text 7"/>
          <p:cNvSpPr txBox="1"/>
          <p:nvPr/>
        </p:nvSpPr>
        <p:spPr>
          <a:xfrm>
            <a:off x="6400800" y="1828800"/>
            <a:ext cx="5029200" cy="3931920"/>
          </a:xfrm>
          <a:prstGeom prst="rect">
            <a:avLst/>
          </a:prstGeom>
          <a:noFill/>
          <a:ln/>
        </p:spPr>
        <p:txBody>
          <a:bodyPr wrap="square" lIns="0" tIns="0" rIns="0" bIns="0" rtlCol="0" anchor="t"/>
          <a:lstStyle/>
          <a:p>
            <a:pPr marL="0" indent="0">
              <a:buNone/>
            </a:pPr>
            <a:r>
              <a:rPr lang="en-US" sz="1400" dirty="0">
                <a:solidFill>
                  <a:srgbClr val="1F3329"/>
                </a:solidFill>
                <a:latin typeface="Calibri" pitchFamily="34" charset="0"/>
                <a:ea typeface="Calibri" pitchFamily="34" charset="-122"/>
                <a:cs typeface="Calibri" pitchFamily="34" charset="-120"/>
              </a:rPr>
              <a:t>No redundancy (tree)</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Only 3 servers cabled</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No VLANs</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NAT/BGP mainly demonstrative</a:t>
            </a:r>
            <a:endParaRPr lang="en-US" sz="1400" dirty="0"/>
          </a:p>
          <a:p>
            <a:pPr marL="0" indent="0">
              <a:buNone/>
            </a:pPr>
            <a:r>
              <a:rPr lang="en-US" sz="1400" dirty="0">
                <a:solidFill>
                  <a:srgbClr val="1F3329"/>
                </a:solidFill>
                <a:latin typeface="Calibri" pitchFamily="34" charset="0"/>
                <a:ea typeface="Calibri" pitchFamily="34" charset="-122"/>
                <a:cs typeface="Calibri" pitchFamily="34" charset="-120"/>
              </a:rPr>
              <a:t>Results not yet captured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3000" b="1" dirty="0">
                <a:solidFill>
                  <a:srgbClr val="0B3D2E"/>
                </a:solidFill>
                <a:latin typeface="Cambria" pitchFamily="34" charset="0"/>
                <a:ea typeface="Cambria" pitchFamily="34" charset="-122"/>
                <a:cs typeface="Cambria" pitchFamily="34" charset="-120"/>
              </a:rPr>
              <a:t>Future Scope</a:t>
            </a:r>
            <a:endParaRPr lang="en-US" sz="30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25</a:t>
            </a:r>
            <a:endParaRPr lang="en-US" sz="1000" dirty="0"/>
          </a:p>
        </p:txBody>
      </p:sp>
      <p:sp>
        <p:nvSpPr>
          <p:cNvPr id="4" name="Shape 2"/>
          <p:cNvSpPr/>
          <p:nvPr/>
        </p:nvSpPr>
        <p:spPr>
          <a:xfrm>
            <a:off x="548640" y="128016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5" name="Text 3"/>
          <p:cNvSpPr txBox="1"/>
          <p:nvPr/>
        </p:nvSpPr>
        <p:spPr>
          <a:xfrm>
            <a:off x="548640" y="128016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Redundant core links</a:t>
            </a:r>
            <a:endParaRPr lang="en-US" sz="1400" dirty="0"/>
          </a:p>
        </p:txBody>
      </p:sp>
      <p:sp>
        <p:nvSpPr>
          <p:cNvPr id="6" name="Shape 4"/>
          <p:cNvSpPr/>
          <p:nvPr/>
        </p:nvSpPr>
        <p:spPr>
          <a:xfrm>
            <a:off x="3360420" y="1280160"/>
            <a:ext cx="2628900" cy="914400"/>
          </a:xfrm>
          <a:prstGeom prst="roundRect">
            <a:avLst>
              <a:gd name="adj" fmla="val 8000"/>
            </a:avLst>
          </a:prstGeom>
          <a:solidFill>
            <a:srgbClr val="1B7F4B"/>
          </a:solidFill>
          <a:ln w="12700">
            <a:solidFill>
              <a:srgbClr val="1B7F4B"/>
            </a:solidFill>
            <a:prstDash val="solid"/>
          </a:ln>
        </p:spPr>
        <p:txBody>
          <a:bodyPr/>
          <a:lstStyle/>
          <a:p>
            <a:endParaRPr lang="en-IN"/>
          </a:p>
        </p:txBody>
      </p:sp>
      <p:sp>
        <p:nvSpPr>
          <p:cNvPr id="7" name="Text 5"/>
          <p:cNvSpPr txBox="1"/>
          <p:nvPr/>
        </p:nvSpPr>
        <p:spPr>
          <a:xfrm>
            <a:off x="3360420" y="128016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VLANs + port security</a:t>
            </a:r>
            <a:endParaRPr lang="en-US" sz="1400" dirty="0"/>
          </a:p>
        </p:txBody>
      </p:sp>
      <p:sp>
        <p:nvSpPr>
          <p:cNvPr id="8" name="Shape 6"/>
          <p:cNvSpPr/>
          <p:nvPr/>
        </p:nvSpPr>
        <p:spPr>
          <a:xfrm>
            <a:off x="6172200" y="128016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9" name="Text 7"/>
          <p:cNvSpPr txBox="1"/>
          <p:nvPr/>
        </p:nvSpPr>
        <p:spPr>
          <a:xfrm>
            <a:off x="6172200" y="128016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Firewall / ZBF</a:t>
            </a:r>
            <a:endParaRPr lang="en-US" sz="1400" dirty="0"/>
          </a:p>
        </p:txBody>
      </p:sp>
      <p:sp>
        <p:nvSpPr>
          <p:cNvPr id="10" name="Shape 8"/>
          <p:cNvSpPr/>
          <p:nvPr/>
        </p:nvSpPr>
        <p:spPr>
          <a:xfrm>
            <a:off x="8983980" y="1280160"/>
            <a:ext cx="2628900" cy="914400"/>
          </a:xfrm>
          <a:prstGeom prst="roundRect">
            <a:avLst>
              <a:gd name="adj" fmla="val 8000"/>
            </a:avLst>
          </a:prstGeom>
          <a:solidFill>
            <a:srgbClr val="1B7F4B"/>
          </a:solidFill>
          <a:ln w="12700">
            <a:solidFill>
              <a:srgbClr val="1B7F4B"/>
            </a:solidFill>
            <a:prstDash val="solid"/>
          </a:ln>
        </p:spPr>
        <p:txBody>
          <a:bodyPr/>
          <a:lstStyle/>
          <a:p>
            <a:endParaRPr lang="en-IN"/>
          </a:p>
        </p:txBody>
      </p:sp>
      <p:sp>
        <p:nvSpPr>
          <p:cNvPr id="11" name="Text 9"/>
          <p:cNvSpPr txBox="1"/>
          <p:nvPr/>
        </p:nvSpPr>
        <p:spPr>
          <a:xfrm>
            <a:off x="8983980" y="128016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AAA RADIUS/TACACS+</a:t>
            </a:r>
            <a:endParaRPr lang="en-US" sz="1400" dirty="0"/>
          </a:p>
        </p:txBody>
      </p:sp>
      <p:sp>
        <p:nvSpPr>
          <p:cNvPr id="12" name="Shape 10"/>
          <p:cNvSpPr/>
          <p:nvPr/>
        </p:nvSpPr>
        <p:spPr>
          <a:xfrm>
            <a:off x="548640" y="237744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13" name="Text 11"/>
          <p:cNvSpPr txBox="1"/>
          <p:nvPr/>
        </p:nvSpPr>
        <p:spPr>
          <a:xfrm>
            <a:off x="548640" y="237744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Syslog + NTP</a:t>
            </a:r>
            <a:endParaRPr lang="en-US" sz="1400" dirty="0"/>
          </a:p>
        </p:txBody>
      </p:sp>
      <p:sp>
        <p:nvSpPr>
          <p:cNvPr id="14" name="Shape 12"/>
          <p:cNvSpPr/>
          <p:nvPr/>
        </p:nvSpPr>
        <p:spPr>
          <a:xfrm>
            <a:off x="3360420" y="2377440"/>
            <a:ext cx="2628900" cy="914400"/>
          </a:xfrm>
          <a:prstGeom prst="roundRect">
            <a:avLst>
              <a:gd name="adj" fmla="val 8000"/>
            </a:avLst>
          </a:prstGeom>
          <a:solidFill>
            <a:srgbClr val="1B7F4B"/>
          </a:solidFill>
          <a:ln w="12700">
            <a:solidFill>
              <a:srgbClr val="1B7F4B"/>
            </a:solidFill>
            <a:prstDash val="solid"/>
          </a:ln>
        </p:spPr>
        <p:txBody>
          <a:bodyPr/>
          <a:lstStyle/>
          <a:p>
            <a:endParaRPr lang="en-IN"/>
          </a:p>
        </p:txBody>
      </p:sp>
      <p:sp>
        <p:nvSpPr>
          <p:cNvPr id="15" name="Text 13"/>
          <p:cNvSpPr txBox="1"/>
          <p:nvPr/>
        </p:nvSpPr>
        <p:spPr>
          <a:xfrm>
            <a:off x="3360420" y="237744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IPv6</a:t>
            </a:r>
            <a:endParaRPr lang="en-US" sz="1400" dirty="0"/>
          </a:p>
        </p:txBody>
      </p:sp>
      <p:sp>
        <p:nvSpPr>
          <p:cNvPr id="16" name="Shape 14"/>
          <p:cNvSpPr/>
          <p:nvPr/>
        </p:nvSpPr>
        <p:spPr>
          <a:xfrm>
            <a:off x="6172200" y="237744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17" name="Text 15"/>
          <p:cNvSpPr txBox="1"/>
          <p:nvPr/>
        </p:nvSpPr>
        <p:spPr>
          <a:xfrm>
            <a:off x="6172200" y="237744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HSRP / VRRP</a:t>
            </a:r>
            <a:endParaRPr lang="en-US" sz="1400" dirty="0"/>
          </a:p>
        </p:txBody>
      </p:sp>
      <p:sp>
        <p:nvSpPr>
          <p:cNvPr id="18" name="Shape 16"/>
          <p:cNvSpPr/>
          <p:nvPr/>
        </p:nvSpPr>
        <p:spPr>
          <a:xfrm>
            <a:off x="8983980" y="2377440"/>
            <a:ext cx="2628900" cy="914400"/>
          </a:xfrm>
          <a:prstGeom prst="roundRect">
            <a:avLst>
              <a:gd name="adj" fmla="val 8000"/>
            </a:avLst>
          </a:prstGeom>
          <a:solidFill>
            <a:srgbClr val="1B7F4B"/>
          </a:solidFill>
          <a:ln w="12700">
            <a:solidFill>
              <a:srgbClr val="1B7F4B"/>
            </a:solidFill>
            <a:prstDash val="solid"/>
          </a:ln>
        </p:spPr>
        <p:txBody>
          <a:bodyPr/>
          <a:lstStyle/>
          <a:p>
            <a:endParaRPr lang="en-IN"/>
          </a:p>
        </p:txBody>
      </p:sp>
      <p:sp>
        <p:nvSpPr>
          <p:cNvPr id="19" name="Text 17"/>
          <p:cNvSpPr txBox="1"/>
          <p:nvPr/>
        </p:nvSpPr>
        <p:spPr>
          <a:xfrm>
            <a:off x="8983980" y="237744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QoS</a:t>
            </a:r>
            <a:endParaRPr lang="en-US" sz="1400" dirty="0"/>
          </a:p>
        </p:txBody>
      </p:sp>
      <p:sp>
        <p:nvSpPr>
          <p:cNvPr id="20" name="Shape 18"/>
          <p:cNvSpPr/>
          <p:nvPr/>
        </p:nvSpPr>
        <p:spPr>
          <a:xfrm>
            <a:off x="548640" y="347472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21" name="Text 19"/>
          <p:cNvSpPr txBox="1"/>
          <p:nvPr/>
        </p:nvSpPr>
        <p:spPr>
          <a:xfrm>
            <a:off x="548640" y="347472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Cable per-site servers</a:t>
            </a:r>
            <a:endParaRPr lang="en-US" sz="1400" dirty="0"/>
          </a:p>
        </p:txBody>
      </p:sp>
      <p:sp>
        <p:nvSpPr>
          <p:cNvPr id="22" name="Shape 20"/>
          <p:cNvSpPr/>
          <p:nvPr/>
        </p:nvSpPr>
        <p:spPr>
          <a:xfrm>
            <a:off x="3360420" y="3474720"/>
            <a:ext cx="2628900" cy="914400"/>
          </a:xfrm>
          <a:prstGeom prst="roundRect">
            <a:avLst>
              <a:gd name="adj" fmla="val 8000"/>
            </a:avLst>
          </a:prstGeom>
          <a:solidFill>
            <a:srgbClr val="1B7F4B"/>
          </a:solidFill>
          <a:ln w="12700">
            <a:solidFill>
              <a:srgbClr val="1B7F4B"/>
            </a:solidFill>
            <a:prstDash val="solid"/>
          </a:ln>
        </p:spPr>
        <p:txBody>
          <a:bodyPr/>
          <a:lstStyle/>
          <a:p>
            <a:endParaRPr lang="en-IN"/>
          </a:p>
        </p:txBody>
      </p:sp>
      <p:sp>
        <p:nvSpPr>
          <p:cNvPr id="23" name="Text 21"/>
          <p:cNvSpPr txBox="1"/>
          <p:nvPr/>
        </p:nvSpPr>
        <p:spPr>
          <a:xfrm>
            <a:off x="3360420" y="347472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ATM site</a:t>
            </a:r>
            <a:endParaRPr lang="en-US" sz="1400" dirty="0"/>
          </a:p>
        </p:txBody>
      </p:sp>
      <p:sp>
        <p:nvSpPr>
          <p:cNvPr id="24" name="Shape 22"/>
          <p:cNvSpPr/>
          <p:nvPr/>
        </p:nvSpPr>
        <p:spPr>
          <a:xfrm>
            <a:off x="6172200" y="3474720"/>
            <a:ext cx="2628900" cy="914400"/>
          </a:xfrm>
          <a:prstGeom prst="roundRect">
            <a:avLst>
              <a:gd name="adj" fmla="val 8000"/>
            </a:avLst>
          </a:prstGeom>
          <a:solidFill>
            <a:srgbClr val="0B3D2E"/>
          </a:solidFill>
          <a:ln w="12700">
            <a:solidFill>
              <a:srgbClr val="0B3D2E"/>
            </a:solidFill>
            <a:prstDash val="solid"/>
          </a:ln>
        </p:spPr>
        <p:txBody>
          <a:bodyPr/>
          <a:lstStyle/>
          <a:p>
            <a:endParaRPr lang="en-IN"/>
          </a:p>
        </p:txBody>
      </p:sp>
      <p:sp>
        <p:nvSpPr>
          <p:cNvPr id="25" name="Text 23"/>
          <p:cNvSpPr txBox="1"/>
          <p:nvPr/>
        </p:nvSpPr>
        <p:spPr>
          <a:xfrm>
            <a:off x="6172200" y="3474720"/>
            <a:ext cx="2628900" cy="914400"/>
          </a:xfrm>
          <a:prstGeom prst="rect">
            <a:avLst/>
          </a:prstGeom>
          <a:no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GNS3 / EVE-NG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0B3D2E"/>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11064240" cy="274320"/>
          </a:xfrm>
          <a:prstGeom prst="rect">
            <a:avLst/>
          </a:prstGeom>
          <a:noFill/>
          <a:ln/>
        </p:spPr>
        <p:txBody>
          <a:bodyPr wrap="square" lIns="0" tIns="0" rIns="0" bIns="0" rtlCol="0" anchor="ctr"/>
          <a:lstStyle/>
          <a:p>
            <a:pPr marL="0" indent="0" algn="r">
              <a:buNone/>
            </a:pPr>
            <a:r>
              <a:rPr lang="en-US" sz="1000" dirty="0">
                <a:solidFill>
                  <a:srgbClr val="4F6B5C"/>
                </a:solidFill>
                <a:latin typeface="Calibri" pitchFamily="34" charset="0"/>
                <a:ea typeface="Calibri" pitchFamily="34" charset="-122"/>
                <a:cs typeface="Calibri" pitchFamily="34" charset="-120"/>
              </a:rPr>
              <a:t>Integrated Enterprise Network  |  26</a:t>
            </a:r>
            <a:endParaRPr lang="en-US" sz="1000" dirty="0"/>
          </a:p>
        </p:txBody>
      </p:sp>
      <p:sp>
        <p:nvSpPr>
          <p:cNvPr id="3" name="Text 1"/>
          <p:cNvSpPr txBox="1"/>
          <p:nvPr/>
        </p:nvSpPr>
        <p:spPr>
          <a:xfrm>
            <a:off x="731520" y="822960"/>
            <a:ext cx="10515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4" name="Text 2"/>
          <p:cNvSpPr txBox="1"/>
          <p:nvPr/>
        </p:nvSpPr>
        <p:spPr>
          <a:xfrm>
            <a:off x="731520" y="2011680"/>
            <a:ext cx="10515600" cy="274320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FFFFFF"/>
                </a:solidFill>
                <a:latin typeface="Calibri" pitchFamily="34" charset="0"/>
                <a:ea typeface="Calibri" pitchFamily="34" charset="-122"/>
                <a:cs typeface="Calibri" pitchFamily="34" charset="-120"/>
              </a:rPr>
              <a:t>Documented the Packet Tracer topology exactly as cabled</a:t>
            </a:r>
            <a:endParaRPr lang="en-US" sz="2200" dirty="0"/>
          </a:p>
          <a:p>
            <a:pPr marL="342900" indent="-342900">
              <a:spcAft>
                <a:spcPts val="1000"/>
              </a:spcAft>
              <a:buSzPct val="100000"/>
              <a:buChar char="•"/>
            </a:pPr>
            <a:r>
              <a:rPr lang="en-US" sz="2200" dirty="0">
                <a:solidFill>
                  <a:srgbClr val="FFFFFF"/>
                </a:solidFill>
                <a:latin typeface="Calibri" pitchFamily="34" charset="0"/>
                <a:ea typeface="Calibri" pitchFamily="34" charset="-122"/>
                <a:cs typeface="Calibri" pitchFamily="34" charset="-120"/>
              </a:rPr>
              <a:t>One addressing plan drives routing, services and security</a:t>
            </a:r>
            <a:endParaRPr lang="en-US" sz="2200" dirty="0"/>
          </a:p>
          <a:p>
            <a:pPr marL="342900" indent="-342900">
              <a:spcAft>
                <a:spcPts val="1000"/>
              </a:spcAft>
              <a:buSzPct val="100000"/>
              <a:buChar char="•"/>
            </a:pPr>
            <a:r>
              <a:rPr lang="en-US" sz="2200" dirty="0">
                <a:solidFill>
                  <a:srgbClr val="FFFFFF"/>
                </a:solidFill>
                <a:latin typeface="Calibri" pitchFamily="34" charset="0"/>
                <a:ea typeface="Calibri" pitchFamily="34" charset="-122"/>
                <a:cs typeface="Calibri" pitchFamily="34" charset="-120"/>
              </a:rPr>
              <a:t>Mismatches recorded, not hidden</a:t>
            </a:r>
            <a:endParaRPr lang="en-US" sz="2200" dirty="0"/>
          </a:p>
          <a:p>
            <a:pPr marL="342900" indent="-342900">
              <a:spcAft>
                <a:spcPts val="1000"/>
              </a:spcAft>
              <a:buSzPct val="100000"/>
              <a:buChar char="•"/>
            </a:pPr>
            <a:r>
              <a:rPr lang="en-US" sz="2200" dirty="0">
                <a:solidFill>
                  <a:srgbClr val="FFFFFF"/>
                </a:solidFill>
                <a:latin typeface="Calibri" pitchFamily="34" charset="0"/>
                <a:ea typeface="Calibri" pitchFamily="34" charset="-122"/>
                <a:cs typeface="Calibri" pitchFamily="34" charset="-120"/>
              </a:rPr>
              <a:t>Next step: apply the configuration and capture test results</a:t>
            </a:r>
            <a:endParaRPr lang="en-US" sz="2200" dirty="0"/>
          </a:p>
        </p:txBody>
      </p:sp>
      <p:sp>
        <p:nvSpPr>
          <p:cNvPr id="5" name="Text 3"/>
          <p:cNvSpPr txBox="1"/>
          <p:nvPr/>
        </p:nvSpPr>
        <p:spPr>
          <a:xfrm>
            <a:off x="731520" y="5212080"/>
            <a:ext cx="10515600" cy="822960"/>
          </a:xfrm>
          <a:prstGeom prst="rect">
            <a:avLst/>
          </a:prstGeom>
          <a:noFill/>
          <a:ln/>
        </p:spPr>
        <p:txBody>
          <a:bodyPr wrap="square" lIns="0" tIns="0" rIns="0" bIns="0" rtlCol="0" anchor="ctr"/>
          <a:lstStyle/>
          <a:p>
            <a:pPr marL="0" indent="0">
              <a:buNone/>
            </a:pPr>
            <a:r>
              <a:rPr lang="en-US" sz="3400" b="1" dirty="0">
                <a:solidFill>
                  <a:srgbClr val="A8F0C4"/>
                </a:solidFill>
                <a:latin typeface="Cambria" pitchFamily="34" charset="0"/>
                <a:ea typeface="Cambria" pitchFamily="34" charset="-122"/>
                <a:cs typeface="Cambria" pitchFamily="34" charset="-120"/>
              </a:rPr>
              <a:t>Thank You  </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Integrated_Enterprise_Network_Project</Template>
  <TotalTime>2</TotalTime>
  <Words>2352</Words>
  <Application>Microsoft Office PowerPoint</Application>
  <PresentationFormat>Widescreen</PresentationFormat>
  <Paragraphs>542</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Mohammad Umar Shaikh</dc:creator>
  <cp:lastModifiedBy>Mohammad Umar Shaikh</cp:lastModifiedBy>
  <cp:revision>1</cp:revision>
  <dcterms:created xsi:type="dcterms:W3CDTF">2026-10-04T03:58:56Z</dcterms:created>
  <dcterms:modified xsi:type="dcterms:W3CDTF">2026-10-04T04:01:40Z</dcterms:modified>
</cp:coreProperties>
</file>